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3.xml" ContentType="application/vnd.openxmlformats-officedocument.presentationml.tags+xml"/>
  <Override PartName="/ppt/revisionInfo.xml" ContentType="application/vnd.ms-powerpoint.revisioninfo+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147478639" r:id="rId2"/>
    <p:sldId id="2147478711" r:id="rId3"/>
    <p:sldId id="2147478736" r:id="rId4"/>
    <p:sldId id="2147478737" r:id="rId5"/>
    <p:sldId id="2147478738" r:id="rId6"/>
    <p:sldId id="2147478739" r:id="rId7"/>
    <p:sldId id="2147478740" r:id="rId8"/>
    <p:sldId id="2147478741" r:id="rId9"/>
    <p:sldId id="2147478742" r:id="rId10"/>
    <p:sldId id="2147478735"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8341E-849D-46C1-B1DB-BAA63AC156F0}" v="21" dt="2025-10-01T03:08:24.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94660"/>
  </p:normalViewPr>
  <p:slideViewPr>
    <p:cSldViewPr snapToGrid="0">
      <p:cViewPr varScale="1">
        <p:scale>
          <a:sx n="70" d="100"/>
          <a:sy n="70" d="100"/>
        </p:scale>
        <p:origin x="3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0AD76F-2749-40E1-8F82-BDE7FD720DB4}" type="datetimeFigureOut">
              <a:rPr lang="es-MX" smtClean="0"/>
              <a:t>30/09/2025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7F761-0435-4F04-8D07-7D1DF1F83DA2}" type="slidenum">
              <a:rPr lang="es-MX" smtClean="0"/>
              <a:t>‹Nº›</a:t>
            </a:fld>
            <a:endParaRPr lang="es-MX"/>
          </a:p>
        </p:txBody>
      </p:sp>
    </p:spTree>
    <p:extLst>
      <p:ext uri="{BB962C8B-B14F-4D97-AF65-F5344CB8AC3E}">
        <p14:creationId xmlns:p14="http://schemas.microsoft.com/office/powerpoint/2010/main" val="2174617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50380B-E120-4098-ACE4-02CF6992DFB3}" type="slidenum">
              <a:rPr lang="en-US" smtClean="0"/>
              <a:pPr/>
              <a:t>1</a:t>
            </a:fld>
            <a:endParaRPr lang="en-US"/>
          </a:p>
        </p:txBody>
      </p:sp>
    </p:spTree>
    <p:extLst>
      <p:ext uri="{BB962C8B-B14F-4D97-AF65-F5344CB8AC3E}">
        <p14:creationId xmlns:p14="http://schemas.microsoft.com/office/powerpoint/2010/main" val="2062179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9E15-D01E-05BD-DF4F-B437461BE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42D44-7C4F-CCBA-EC6C-7DB7BD410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0D106-6E86-14F5-983D-811F4E14CD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C9F8B6-F0CD-3E54-75D4-9D2BA65DA88C}"/>
              </a:ext>
            </a:extLst>
          </p:cNvPr>
          <p:cNvSpPr>
            <a:spLocks noGrp="1"/>
          </p:cNvSpPr>
          <p:nvPr>
            <p:ph type="sldNum" sz="quarter" idx="5"/>
          </p:nvPr>
        </p:nvSpPr>
        <p:spPr/>
        <p:txBody>
          <a:bodyPr/>
          <a:lstStyle/>
          <a:p>
            <a:fld id="{8D50380B-E120-4098-ACE4-02CF6992DFB3}" type="slidenum">
              <a:rPr lang="en-US" smtClean="0"/>
              <a:pPr/>
              <a:t>10</a:t>
            </a:fld>
            <a:endParaRPr lang="en-US"/>
          </a:p>
        </p:txBody>
      </p:sp>
    </p:spTree>
    <p:extLst>
      <p:ext uri="{BB962C8B-B14F-4D97-AF65-F5344CB8AC3E}">
        <p14:creationId xmlns:p14="http://schemas.microsoft.com/office/powerpoint/2010/main" val="3613475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emf"/><Relationship Id="rId10" Type="http://schemas.openxmlformats.org/officeDocument/2006/relationships/image" Target="../media/image7.png"/><Relationship Id="rId4" Type="http://schemas.openxmlformats.org/officeDocument/2006/relationships/oleObject" Target="../embeddings/oleObject1.bin"/><Relationship Id="rId9"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99A8BA-A8E4-E6F5-5EFA-BBB0FAF22B6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632B059-93F2-304E-A67F-E45CA7AB8A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53D7382-1550-48B9-36FB-25657642CF31}"/>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0C34E5EE-F5B1-A905-7984-1697A7610C8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A259768-8446-309B-E5A9-D9FDFCA5718B}"/>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349927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57B1B-D1C9-E7ED-8F8F-2B31E1F1A9B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6451EB-ACD8-BAE4-5A78-2CC1B82ABB6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4A70AD4-3235-BD2A-0DE8-91D983C86563}"/>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BE5F93A3-6328-080F-039E-E0BDA8FFCAE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D8A37D2-01FA-54CD-5D2E-5C773746B75F}"/>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1862535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104798-844C-88A2-2990-F0A51F3F66C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32A3E4A-5B54-1096-CC90-5810F25138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971E7B1-9902-4405-BA44-0DF13A24DB13}"/>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E8D8472E-D072-9566-88CC-05548DCC458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D13CABD-38D7-8D3F-3CE9-55EA269611CA}"/>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41970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B2E9EF-DB29-8ED4-7668-ECD18398F58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E3ADE81-152B-1113-31BF-9D47680907D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5CE2C8DB-B105-E3B8-77EE-619B1C076A2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85A0F13-837F-35CC-7F8B-2EA3FC555453}"/>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6" name="Marcador de pie de página 5">
            <a:extLst>
              <a:ext uri="{FF2B5EF4-FFF2-40B4-BE49-F238E27FC236}">
                <a16:creationId xmlns:a16="http://schemas.microsoft.com/office/drawing/2014/main" id="{0393BD4E-E8DB-F3DE-A6C6-5CE7AEFE8CB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FF47F35-4ADA-283A-C456-E8C13D984006}"/>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1648218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6F8C4-105E-5410-08EA-598943DBC7A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7242790-8484-CB92-FBD9-A06F6096C4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20F335-2F85-7444-B309-BB9F8897F8D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8A33A4D-DD17-F0B5-A2A6-A1B1056561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9E4104-0AEB-D72C-39B8-8BB46A40ABF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9CEE33A-F1E5-7DFD-AAC0-EEADFB788D5B}"/>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8" name="Marcador de pie de página 7">
            <a:extLst>
              <a:ext uri="{FF2B5EF4-FFF2-40B4-BE49-F238E27FC236}">
                <a16:creationId xmlns:a16="http://schemas.microsoft.com/office/drawing/2014/main" id="{6F30FC06-ACB4-139A-67EA-332B96CD55B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099961-D4E7-6D14-9DDB-3776CB6DC70C}"/>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793941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FFACC-23A3-BA04-2BB7-2CB9DA39B56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D56C461-C714-C4FD-5F57-F73D75486BE3}"/>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4" name="Marcador de pie de página 3">
            <a:extLst>
              <a:ext uri="{FF2B5EF4-FFF2-40B4-BE49-F238E27FC236}">
                <a16:creationId xmlns:a16="http://schemas.microsoft.com/office/drawing/2014/main" id="{070B56F3-D132-39CF-6628-8AA0F60686D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E2B83F0-A8BD-B52F-018D-DEB6717D04F4}"/>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186192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09191C8-6CAA-EB92-61F6-041187E1DE1F}"/>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3" name="Marcador de pie de página 2">
            <a:extLst>
              <a:ext uri="{FF2B5EF4-FFF2-40B4-BE49-F238E27FC236}">
                <a16:creationId xmlns:a16="http://schemas.microsoft.com/office/drawing/2014/main" id="{32116879-08EC-579E-DFC4-601747A3913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30C564E-2B28-BE5B-A6BC-2E8419A5913D}"/>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2979731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0C0A2-B7BE-425B-C241-6C4B2B544CD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0D544E1-85EE-E73D-AB2F-4A7E66E0C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639E128-69B7-CC44-8CBE-D5B070B04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9AB3A9-5F10-F8DF-780E-A7449C687C97}"/>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6" name="Marcador de pie de página 5">
            <a:extLst>
              <a:ext uri="{FF2B5EF4-FFF2-40B4-BE49-F238E27FC236}">
                <a16:creationId xmlns:a16="http://schemas.microsoft.com/office/drawing/2014/main" id="{68C7C43C-EB68-8B1E-FEF3-0105AB5D111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882F076-A22B-3224-747A-EC666416D63F}"/>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4150811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24E1B-0FF1-F0F4-3D58-9660006D72E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001E556-8905-E9BD-D91A-4F2B6CB130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0398E7E-FFA5-FCAF-9A61-D2DBC8F348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A7D1992-B25E-9AC5-7404-31D922AE874F}"/>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6" name="Marcador de pie de página 5">
            <a:extLst>
              <a:ext uri="{FF2B5EF4-FFF2-40B4-BE49-F238E27FC236}">
                <a16:creationId xmlns:a16="http://schemas.microsoft.com/office/drawing/2014/main" id="{ED13CC71-21F8-6662-4D71-CCA1821BC27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3ECCF81-BCAB-AA4C-8DA6-6EFE2EAEE5C0}"/>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171388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988A5A-66D8-99F4-F343-BFF66129F01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D27E1D1-410D-A6BD-EEA0-2305DADCD3C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905025E-7678-5737-FCB0-1A872AAC5C85}"/>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6B579E6F-0A93-E46C-CF7C-5F4BAA5482C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4EE3EBA-3513-B189-17B2-7BB97B13FB5E}"/>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303888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ECD193B-CC5C-FF6B-BDEF-B020608B5D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A038C18-90F3-A363-7E30-DA7BB772DD8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16CB3B3-5637-B08B-AE80-670CD8E4B954}"/>
              </a:ext>
            </a:extLst>
          </p:cNvPr>
          <p:cNvSpPr>
            <a:spLocks noGrp="1"/>
          </p:cNvSpPr>
          <p:nvPr>
            <p:ph type="dt" sz="half" idx="10"/>
          </p:nvPr>
        </p:nvSpPr>
        <p:spPr/>
        <p:txBody>
          <a:body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205FD74D-7FBA-A1C8-991D-5FC91A28721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7250F0A-A073-FFF8-9036-C1544DEFCC24}"/>
              </a:ext>
            </a:extLst>
          </p:cNvPr>
          <p:cNvSpPr>
            <a:spLocks noGrp="1"/>
          </p:cNvSpPr>
          <p:nvPr>
            <p:ph type="sldNum" sz="quarter" idx="12"/>
          </p:nvPr>
        </p:nvSpPr>
        <p:spPr/>
        <p:txBody>
          <a:bodyPr/>
          <a:lstStyle/>
          <a:p>
            <a:fld id="{C81C5561-217F-4837-86E0-A5EB5DF1BBBE}" type="slidenum">
              <a:rPr lang="es-MX" smtClean="0"/>
              <a:t>‹Nº›</a:t>
            </a:fld>
            <a:endParaRPr lang="es-MX"/>
          </a:p>
        </p:txBody>
      </p:sp>
    </p:spTree>
    <p:extLst>
      <p:ext uri="{BB962C8B-B14F-4D97-AF65-F5344CB8AC3E}">
        <p14:creationId xmlns:p14="http://schemas.microsoft.com/office/powerpoint/2010/main" val="512455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ortada">
    <p:spTree>
      <p:nvGrpSpPr>
        <p:cNvPr id="1" name=""/>
        <p:cNvGrpSpPr/>
        <p:nvPr/>
      </p:nvGrpSpPr>
      <p:grpSpPr>
        <a:xfrm>
          <a:off x="0" y="0"/>
          <a:ext cx="0" cy="0"/>
          <a:chOff x="0" y="0"/>
          <a:chExt cx="0" cy="0"/>
        </a:xfrm>
      </p:grpSpPr>
      <p:pic>
        <p:nvPicPr>
          <p:cNvPr id="5" name="Imagen 4" descr="Un cuarto con una ventana grande">
            <a:extLst>
              <a:ext uri="{FF2B5EF4-FFF2-40B4-BE49-F238E27FC236}">
                <a16:creationId xmlns:a16="http://schemas.microsoft.com/office/drawing/2014/main" id="{8019EB4D-DCC7-9DCB-06C8-F8E7591F47B0}"/>
              </a:ext>
            </a:extLst>
          </p:cNvPr>
          <p:cNvPicPr>
            <a:picLocks noChangeAspect="1"/>
          </p:cNvPicPr>
          <p:nvPr userDrawn="1"/>
        </p:nvPicPr>
        <p:blipFill>
          <a:blip r:embed="rId3"/>
          <a:srcRect l="105" t="1349" r="2337" b="2618"/>
          <a:stretch/>
        </p:blipFill>
        <p:spPr>
          <a:xfrm>
            <a:off x="0" y="-26846"/>
            <a:ext cx="12192000" cy="6858000"/>
          </a:xfrm>
          <a:prstGeom prst="rect">
            <a:avLst/>
          </a:prstGeom>
        </p:spPr>
      </p:pic>
      <p:graphicFrame>
        <p:nvGraphicFramePr>
          <p:cNvPr id="2" name="think-cell data - do not delete" hidden="1">
            <a:extLst>
              <a:ext uri="{FF2B5EF4-FFF2-40B4-BE49-F238E27FC236}">
                <a16:creationId xmlns:a16="http://schemas.microsoft.com/office/drawing/2014/main" id="{B74BB49E-CE83-29B3-35B4-F8E50B8D4F58}"/>
              </a:ext>
            </a:extLst>
          </p:cNvPr>
          <p:cNvGraphicFramePr>
            <a:graphicFrameLocks noChangeAspect="1"/>
          </p:cNvGraphicFramePr>
          <p:nvPr userDrawn="1">
            <p:custDataLst>
              <p:tags r:id="rId1"/>
            </p:custDataLst>
            <p:extLst>
              <p:ext uri="{D42A27DB-BD31-4B8C-83A1-F6EECF244321}">
                <p14:modId xmlns:p14="http://schemas.microsoft.com/office/powerpoint/2010/main" val="2173422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2" name="think-cell data - do not delete" hidden="1">
                        <a:extLst>
                          <a:ext uri="{FF2B5EF4-FFF2-40B4-BE49-F238E27FC236}">
                            <a16:creationId xmlns:a16="http://schemas.microsoft.com/office/drawing/2014/main" id="{B74BB49E-CE83-29B3-35B4-F8E50B8D4F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CuadroTexto 15">
            <a:extLst>
              <a:ext uri="{FF2B5EF4-FFF2-40B4-BE49-F238E27FC236}">
                <a16:creationId xmlns:a16="http://schemas.microsoft.com/office/drawing/2014/main" id="{D2D32E26-ABB2-97A0-FDA8-C7E66207A19C}"/>
              </a:ext>
            </a:extLst>
          </p:cNvPr>
          <p:cNvSpPr txBox="1"/>
          <p:nvPr userDrawn="1"/>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a:solidFill>
                  <a:schemeClr val="bg1"/>
                </a:solidFill>
              </a:rPr>
              <a:t>*Santander Asset Management es una marca licenciada a SAM Asset Management, S.A. de C.V., Sociedad Operadora de Fondos de Inversión, entidad financiera mexicana subsidiaria mayoritariamente de la empresa extranjera Santander Asset Management UK Holdings </a:t>
            </a:r>
            <a:r>
              <a:rPr lang="es-ES" sz="850" b="0" i="0" u="none" strike="noStrike" baseline="0" err="1">
                <a:solidFill>
                  <a:schemeClr val="bg1"/>
                </a:solidFill>
              </a:rPr>
              <a:t>Limited</a:t>
            </a:r>
            <a:r>
              <a:rPr lang="es-ES" sz="850" b="0" i="0" u="none" strike="noStrike" baseline="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a:solidFill>
                  <a:schemeClr val="bg1"/>
                </a:solidFill>
                <a:latin typeface="Santander Text" panose="020B0504020201020104" pitchFamily="34" charset="0"/>
              </a:rPr>
              <a:t>Es importante destacar que SAM Asset Management, S.A. de C.V., Sociedad Operadora de Fondos de Inversión, NO es integrante de Grupo Financiero Santander México, S.A. de C.V., </a:t>
            </a:r>
            <a:r>
              <a:rPr lang="es-ES" sz="850" b="0" i="0" u="none" strike="noStrike" baseline="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a:solidFill>
                <a:schemeClr val="bg1"/>
              </a:solidFill>
            </a:endParaRPr>
          </a:p>
        </p:txBody>
      </p:sp>
      <p:pic>
        <p:nvPicPr>
          <p:cNvPr id="17" name="Gráfico 16">
            <a:extLst>
              <a:ext uri="{FF2B5EF4-FFF2-40B4-BE49-F238E27FC236}">
                <a16:creationId xmlns:a16="http://schemas.microsoft.com/office/drawing/2014/main" id="{9EB4F473-4011-7A9E-4D8D-0A9C134164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44732" y="247351"/>
            <a:ext cx="4133113" cy="874800"/>
          </a:xfrm>
          <a:prstGeom prst="rect">
            <a:avLst/>
          </a:prstGeom>
        </p:spPr>
      </p:pic>
      <p:sp>
        <p:nvSpPr>
          <p:cNvPr id="3" name="Rectángulo 2">
            <a:extLst>
              <a:ext uri="{FF2B5EF4-FFF2-40B4-BE49-F238E27FC236}">
                <a16:creationId xmlns:a16="http://schemas.microsoft.com/office/drawing/2014/main" id="{63E47CF1-C3C6-55A7-7515-044D0A7E4F75}"/>
              </a:ext>
            </a:extLst>
          </p:cNvPr>
          <p:cNvSpPr/>
          <p:nvPr userDrawn="1"/>
        </p:nvSpPr>
        <p:spPr>
          <a:xfrm rot="5400000">
            <a:off x="-469902" y="469901"/>
            <a:ext cx="6858001" cy="591820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19" name="Gráfico 18">
            <a:extLst>
              <a:ext uri="{FF2B5EF4-FFF2-40B4-BE49-F238E27FC236}">
                <a16:creationId xmlns:a16="http://schemas.microsoft.com/office/drawing/2014/main" id="{C5C52179-6754-E542-BB5D-54E2150E380B}"/>
              </a:ext>
            </a:extLst>
          </p:cNvPr>
          <p:cNvPicPr>
            <a:picLocks noChangeAspect="1"/>
          </p:cNvPicPr>
          <p:nvPr userDrawn="1"/>
        </p:nvPicPr>
        <p:blipFill>
          <a:blip r:embed="rId8">
            <a:extLst>
              <a:ext uri="{96DAC541-7B7A-43D3-8B79-37D633B846F1}">
                <asvg:svgBlip xmlns:asvg="http://schemas.microsoft.com/office/drawing/2016/SVG/main" r:embed="rId9"/>
              </a:ext>
            </a:extLst>
          </a:blip>
          <a:srcRect l="8597" b="53789"/>
          <a:stretch/>
        </p:blipFill>
        <p:spPr>
          <a:xfrm rot="10800000">
            <a:off x="171778" y="-396"/>
            <a:ext cx="12020222" cy="3995990"/>
          </a:xfrm>
          <a:prstGeom prst="rect">
            <a:avLst/>
          </a:prstGeom>
        </p:spPr>
      </p:pic>
      <p:pic>
        <p:nvPicPr>
          <p:cNvPr id="18" name="Imagen 17">
            <a:extLst>
              <a:ext uri="{FF2B5EF4-FFF2-40B4-BE49-F238E27FC236}">
                <a16:creationId xmlns:a16="http://schemas.microsoft.com/office/drawing/2014/main" id="{2F30EAE9-BD79-FBBE-525A-9500D1F326A6}"/>
              </a:ext>
            </a:extLst>
          </p:cNvPr>
          <p:cNvPicPr>
            <a:picLocks noChangeAspect="1"/>
          </p:cNvPicPr>
          <p:nvPr userDrawn="1"/>
        </p:nvPicPr>
        <p:blipFill>
          <a:blip r:embed="rId10">
            <a:alphaModFix amt="20000"/>
          </a:blip>
          <a:srcRect l="1194" b="37251"/>
          <a:stretch/>
        </p:blipFill>
        <p:spPr>
          <a:xfrm>
            <a:off x="-13066" y="4111611"/>
            <a:ext cx="12046527" cy="2926285"/>
          </a:xfrm>
          <a:prstGeom prst="rect">
            <a:avLst/>
          </a:prstGeom>
        </p:spPr>
      </p:pic>
    </p:spTree>
    <p:extLst>
      <p:ext uri="{BB962C8B-B14F-4D97-AF65-F5344CB8AC3E}">
        <p14:creationId xmlns:p14="http://schemas.microsoft.com/office/powerpoint/2010/main" val="1479563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C7C7C0C-3C38-5A95-2A05-72D46F0BF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D09F89-CA53-27B7-E337-7A2F7DF7EE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67F233D-39E9-3C0D-BA20-AB6ED6A86C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6C4282-E501-4517-862E-2B051C71297C}" type="datetimeFigureOut">
              <a:rPr lang="es-MX" smtClean="0"/>
              <a:t>30/09/2025</a:t>
            </a:fld>
            <a:endParaRPr lang="es-MX"/>
          </a:p>
        </p:txBody>
      </p:sp>
      <p:sp>
        <p:nvSpPr>
          <p:cNvPr id="5" name="Marcador de pie de página 4">
            <a:extLst>
              <a:ext uri="{FF2B5EF4-FFF2-40B4-BE49-F238E27FC236}">
                <a16:creationId xmlns:a16="http://schemas.microsoft.com/office/drawing/2014/main" id="{62F62431-2AA9-4AA7-E358-DDA1AD025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BD43F86-BCB2-FB3C-7CDF-F6CB8E0EEA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1C5561-217F-4837-86E0-A5EB5DF1BBBE}" type="slidenum">
              <a:rPr lang="es-MX" smtClean="0"/>
              <a:t>‹Nº›</a:t>
            </a:fld>
            <a:endParaRPr lang="es-MX"/>
          </a:p>
        </p:txBody>
      </p:sp>
    </p:spTree>
    <p:extLst>
      <p:ext uri="{BB962C8B-B14F-4D97-AF65-F5344CB8AC3E}">
        <p14:creationId xmlns:p14="http://schemas.microsoft.com/office/powerpoint/2010/main" val="3559317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8.png"/><Relationship Id="rId16"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2.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BACE866-E092-24CE-8ACD-3750C5136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4" name="think-cell data - do not delete" hidden="1">
                        <a:extLst>
                          <a:ext uri="{FF2B5EF4-FFF2-40B4-BE49-F238E27FC236}">
                            <a16:creationId xmlns:a16="http://schemas.microsoft.com/office/drawing/2014/main" id="{CBACE866-E092-24CE-8ACD-3750C5136A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object 6">
            <a:extLst>
              <a:ext uri="{FF2B5EF4-FFF2-40B4-BE49-F238E27FC236}">
                <a16:creationId xmlns:a16="http://schemas.microsoft.com/office/drawing/2014/main" id="{24B3AD9C-C8F7-4454-3B0D-6A5C27AFE229}"/>
              </a:ext>
            </a:extLst>
          </p:cNvPr>
          <p:cNvSpPr txBox="1"/>
          <p:nvPr/>
        </p:nvSpPr>
        <p:spPr>
          <a:xfrm>
            <a:off x="423123" y="3933080"/>
            <a:ext cx="5727066" cy="393185"/>
          </a:xfrm>
          <a:prstGeom prst="rect">
            <a:avLst/>
          </a:prstGeom>
        </p:spPr>
        <p:txBody>
          <a:bodyPr vert="horz" wrap="square" lIns="0" tIns="12065" rIns="0" bIns="0" rtlCol="0">
            <a:spAutoFit/>
          </a:bodyPr>
          <a:lstStyle/>
          <a:p>
            <a:pPr marL="12700" marR="5080" lvl="0" indent="0" defTabSz="914400" eaLnBrk="1" fontAlgn="auto" latinLnBrk="0" hangingPunct="1">
              <a:lnSpc>
                <a:spcPct val="108800"/>
              </a:lnSpc>
              <a:spcBef>
                <a:spcPts val="95"/>
              </a:spcBef>
              <a:spcAft>
                <a:spcPts val="0"/>
              </a:spcAft>
              <a:buClrTx/>
              <a:buSzTx/>
              <a:buFontTx/>
              <a:buNone/>
              <a:tabLst>
                <a:tab pos="1257300" algn="l"/>
              </a:tabLst>
              <a:defRPr/>
            </a:pPr>
            <a:r>
              <a:rPr lang="en-US" sz="2400" kern="0" dirty="0" err="1">
                <a:solidFill>
                  <a:schemeClr val="bg1"/>
                </a:solidFill>
                <a:cs typeface="Santander Headline"/>
              </a:rPr>
              <a:t>Capacitación</a:t>
            </a:r>
            <a:r>
              <a:rPr lang="en-US" sz="2400" kern="0" dirty="0">
                <a:solidFill>
                  <a:schemeClr val="bg1"/>
                </a:solidFill>
                <a:cs typeface="Santander Headline"/>
              </a:rPr>
              <a:t> </a:t>
            </a:r>
            <a:r>
              <a:rPr lang="en-US" sz="2400" kern="0" dirty="0" err="1">
                <a:solidFill>
                  <a:schemeClr val="bg1"/>
                </a:solidFill>
                <a:cs typeface="Santander Headline"/>
              </a:rPr>
              <a:t>Anual</a:t>
            </a:r>
            <a:r>
              <a:rPr lang="en-US" sz="2400" kern="0" dirty="0">
                <a:solidFill>
                  <a:schemeClr val="bg1"/>
                </a:solidFill>
                <a:cs typeface="Santander Headline"/>
              </a:rPr>
              <a:t> 2025</a:t>
            </a:r>
            <a:r>
              <a:rPr lang="en-US" sz="1400" kern="0" dirty="0">
                <a:solidFill>
                  <a:schemeClr val="bg1"/>
                </a:solidFill>
                <a:cs typeface="Santander Headline"/>
              </a:rPr>
              <a:t>.</a:t>
            </a:r>
            <a:endParaRPr kumimoji="0" lang="en-US" sz="1400" b="0" i="0" u="none" strike="noStrike" kern="0" cap="none" spc="0" normalizeH="0" baseline="0" noProof="0" dirty="0">
              <a:ln>
                <a:noFill/>
              </a:ln>
              <a:solidFill>
                <a:schemeClr val="bg1"/>
              </a:solidFill>
              <a:effectLst/>
              <a:uLnTx/>
              <a:uFillTx/>
              <a:cs typeface="Santander Headline"/>
            </a:endParaRPr>
          </a:p>
        </p:txBody>
      </p:sp>
      <p:sp>
        <p:nvSpPr>
          <p:cNvPr id="35" name="object 3">
            <a:extLst>
              <a:ext uri="{FF2B5EF4-FFF2-40B4-BE49-F238E27FC236}">
                <a16:creationId xmlns:a16="http://schemas.microsoft.com/office/drawing/2014/main" id="{D78E3F02-E796-2474-4EFB-27450EC70BEB}"/>
              </a:ext>
            </a:extLst>
          </p:cNvPr>
          <p:cNvSpPr txBox="1">
            <a:spLocks/>
          </p:cNvSpPr>
          <p:nvPr/>
        </p:nvSpPr>
        <p:spPr>
          <a:xfrm>
            <a:off x="423123" y="1776240"/>
            <a:ext cx="8637079" cy="1992981"/>
          </a:xfrm>
          <a:prstGeom prst="rect">
            <a:avLst/>
          </a:prstGeom>
        </p:spPr>
        <p:txBody>
          <a:bodyPr vert="horz" wrap="square" lIns="0" tIns="168275" rIns="0" bIns="0" rtlCol="0" anchor="t">
            <a:sp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5080" indent="0">
              <a:lnSpc>
                <a:spcPct val="80000"/>
              </a:lnSpc>
              <a:spcBef>
                <a:spcPts val="1325"/>
              </a:spcBef>
              <a:buNone/>
            </a:pPr>
            <a:r>
              <a:rPr lang="en-US" sz="4000" dirty="0" err="1">
                <a:solidFill>
                  <a:schemeClr val="bg1"/>
                </a:solidFill>
                <a:latin typeface="Santander Headline"/>
                <a:cs typeface="+mn-lt"/>
              </a:rPr>
              <a:t>Protección</a:t>
            </a:r>
            <a:r>
              <a:rPr lang="en-US" sz="4000" dirty="0">
                <a:solidFill>
                  <a:schemeClr val="bg1"/>
                </a:solidFill>
                <a:latin typeface="Santander Headline"/>
                <a:cs typeface="+mn-lt"/>
              </a:rPr>
              <a:t> de Datos y</a:t>
            </a:r>
          </a:p>
          <a:p>
            <a:pPr marL="0" marR="5080" indent="0">
              <a:lnSpc>
                <a:spcPct val="80000"/>
              </a:lnSpc>
              <a:spcBef>
                <a:spcPts val="1325"/>
              </a:spcBef>
              <a:buNone/>
            </a:pPr>
            <a:r>
              <a:rPr lang="en-US" sz="4000" dirty="0" err="1">
                <a:solidFill>
                  <a:schemeClr val="bg1"/>
                </a:solidFill>
                <a:latin typeface="Santander Headline"/>
                <a:cs typeface="+mn-lt"/>
              </a:rPr>
              <a:t>Manejo</a:t>
            </a:r>
            <a:r>
              <a:rPr lang="en-US" sz="4000" dirty="0">
                <a:solidFill>
                  <a:schemeClr val="bg1"/>
                </a:solidFill>
                <a:latin typeface="Santander Headline"/>
                <a:cs typeface="+mn-lt"/>
              </a:rPr>
              <a:t> de la </a:t>
            </a:r>
            <a:r>
              <a:rPr lang="en-US" sz="4000" dirty="0" err="1">
                <a:solidFill>
                  <a:schemeClr val="bg1"/>
                </a:solidFill>
                <a:latin typeface="Santander Headline"/>
                <a:cs typeface="+mn-lt"/>
              </a:rPr>
              <a:t>Información</a:t>
            </a:r>
            <a:r>
              <a:rPr lang="en-US" sz="4000" dirty="0">
                <a:solidFill>
                  <a:schemeClr val="bg1"/>
                </a:solidFill>
                <a:latin typeface="Santander Headline"/>
                <a:cs typeface="+mn-lt"/>
              </a:rPr>
              <a:t> (</a:t>
            </a:r>
            <a:r>
              <a:rPr lang="en-US" sz="4000" dirty="0" err="1">
                <a:solidFill>
                  <a:schemeClr val="bg1"/>
                </a:solidFill>
                <a:latin typeface="Santander Headline"/>
                <a:cs typeface="+mn-lt"/>
              </a:rPr>
              <a:t>seguridad</a:t>
            </a:r>
            <a:r>
              <a:rPr lang="en-US" sz="4000" dirty="0">
                <a:solidFill>
                  <a:schemeClr val="bg1"/>
                </a:solidFill>
                <a:latin typeface="Santander Headline"/>
                <a:cs typeface="+mn-lt"/>
              </a:rPr>
              <a:t>)</a:t>
            </a:r>
            <a:endParaRPr lang="en-US" sz="4000" dirty="0">
              <a:solidFill>
                <a:schemeClr val="bg1"/>
              </a:solidFill>
            </a:endParaRPr>
          </a:p>
          <a:p>
            <a:pPr marL="0" marR="5080" indent="0">
              <a:lnSpc>
                <a:spcPct val="80000"/>
              </a:lnSpc>
              <a:spcBef>
                <a:spcPts val="1325"/>
              </a:spcBef>
              <a:buNone/>
            </a:pPr>
            <a:r>
              <a:rPr lang="en-US" sz="4000" dirty="0">
                <a:solidFill>
                  <a:schemeClr val="bg1"/>
                </a:solidFill>
                <a:latin typeface="Santander Headline"/>
                <a:cs typeface="Santander Headline Light"/>
              </a:rPr>
              <a:t>SAM</a:t>
            </a:r>
          </a:p>
        </p:txBody>
      </p:sp>
      <p:cxnSp>
        <p:nvCxnSpPr>
          <p:cNvPr id="3" name="Conector recto 2">
            <a:extLst>
              <a:ext uri="{FF2B5EF4-FFF2-40B4-BE49-F238E27FC236}">
                <a16:creationId xmlns:a16="http://schemas.microsoft.com/office/drawing/2014/main" id="{60A81167-BE98-1B82-18A2-1FA75506C009}"/>
              </a:ext>
            </a:extLst>
          </p:cNvPr>
          <p:cNvCxnSpPr>
            <a:cxnSpLocks/>
          </p:cNvCxnSpPr>
          <p:nvPr/>
        </p:nvCxnSpPr>
        <p:spPr>
          <a:xfrm>
            <a:off x="423123" y="3182591"/>
            <a:ext cx="60860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1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9408676-9C48-F8BF-4E1E-EBAF883CACF9}"/>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4219BB9D-BDE8-CA8F-FB93-CED0C46A55C4}"/>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55E1CEFE-D4C7-2370-DB0B-B269FA83515D}"/>
              </a:ext>
            </a:extLst>
          </p:cNvPr>
          <p:cNvSpPr/>
          <p:nvPr/>
        </p:nvSpPr>
        <p:spPr>
          <a:xfrm>
            <a:off x="692422" y="967602"/>
            <a:ext cx="1075334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n-ea"/>
                <a:cs typeface="+mn-cs"/>
              </a:rPr>
              <a:t>Política para dar Cumplimiento a la Ley Federal de Protección de Datos Personales en Posesión de Particulares (LFPDPPP)</a:t>
            </a:r>
          </a:p>
        </p:txBody>
      </p:sp>
      <p:sp>
        <p:nvSpPr>
          <p:cNvPr id="4" name="TextBox 5">
            <a:extLst>
              <a:ext uri="{FF2B5EF4-FFF2-40B4-BE49-F238E27FC236}">
                <a16:creationId xmlns:a16="http://schemas.microsoft.com/office/drawing/2014/main" id="{8C7EF542-68CA-0F78-422A-D8E1A4C6D47D}"/>
              </a:ext>
            </a:extLst>
          </p:cNvPr>
          <p:cNvSpPr txBox="1"/>
          <p:nvPr/>
        </p:nvSpPr>
        <p:spPr>
          <a:xfrm>
            <a:off x="905152" y="2284292"/>
            <a:ext cx="5369523" cy="4360168"/>
          </a:xfrm>
          <a:prstGeom prst="rect">
            <a:avLst/>
          </a:prstGeom>
          <a:noFill/>
        </p:spPr>
        <p:txBody>
          <a:bodyPr wrap="square" lIns="0" tIns="0" rIns="0" bIns="0" rtlCol="0">
            <a:spAutoFit/>
          </a:bodyPr>
          <a:lstStyle>
            <a:defPPr>
              <a:defRPr lang="en-US"/>
            </a:defPPr>
            <a:lvl1pPr>
              <a:spcBef>
                <a:spcPts val="600"/>
              </a:spcBef>
              <a:buSzPct val="100000"/>
              <a:defRPr>
                <a:solidFill>
                  <a:srgbClr val="313131"/>
                </a:solidFill>
              </a:defRPr>
            </a:lvl1pPr>
          </a:lstStyle>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r>
              <a:rPr kumimoji="0" lang="es-MX" sz="1600" b="1"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Datos personales: </a:t>
            </a:r>
            <a:r>
              <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Cualquier información concerniente a una persona física identificada o identificable.</a:t>
            </a:r>
          </a:p>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endPar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r>
              <a:rPr kumimoji="0" lang="es-MX" sz="1600" b="1"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Datos Personales Sensibles: </a:t>
            </a:r>
            <a:r>
              <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se consideran sensibles aquellos que puedan revelar aspectos como origen racial o étnico, estado de salud presente y futuro, información genética, creencias religiosas, filosóficas y morales, afiliación sindical, opiniones políticas, preferencia sexual.</a:t>
            </a:r>
          </a:p>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endPar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r>
              <a:rPr kumimoji="0" lang="es-MX" sz="1600" b="1"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Derechos ARCO: </a:t>
            </a:r>
            <a:r>
              <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Son los derechos de acceso, rectificación, cancelación y oposición. </a:t>
            </a:r>
          </a:p>
          <a:p>
            <a:pPr marL="285750" marR="0" lvl="0" indent="-285750" algn="l" defTabSz="914400" rtl="0" eaLnBrk="1" fontAlgn="auto" latinLnBrk="0" hangingPunct="1">
              <a:lnSpc>
                <a:spcPct val="100000"/>
              </a:lnSpc>
              <a:spcBef>
                <a:spcPts val="600"/>
              </a:spcBef>
              <a:spcAft>
                <a:spcPts val="0"/>
              </a:spcAft>
              <a:buClr>
                <a:srgbClr val="81979B"/>
              </a:buClr>
              <a:buSzPct val="100000"/>
              <a:buFont typeface="Wingdings" panose="05000000000000000000" pitchFamily="2" charset="2"/>
              <a:buChar char="v"/>
              <a:tabLst/>
              <a:defRPr/>
            </a:pPr>
            <a:endPar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600"/>
              </a:spcBef>
              <a:spcAft>
                <a:spcPts val="1000"/>
              </a:spcAft>
              <a:buClr>
                <a:srgbClr val="81979B"/>
              </a:buClr>
              <a:buSzPct val="100000"/>
              <a:buFont typeface="Wingdings" panose="05000000000000000000" pitchFamily="2" charset="2"/>
              <a:buChar char="v"/>
              <a:tabLst/>
              <a:defRPr/>
            </a:pPr>
            <a:r>
              <a:rPr kumimoji="0" lang="es-MX" sz="1600" b="1"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Titular: </a:t>
            </a:r>
            <a:r>
              <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La persona física a quien corresponden los Datos personales.</a:t>
            </a:r>
          </a:p>
          <a:p>
            <a:pPr marL="285750" marR="0" lvl="0" indent="-2857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q"/>
              <a:tabLst/>
              <a:defRPr/>
            </a:pPr>
            <a:endParaRPr kumimoji="0" lang="es-MX" sz="1600" b="0" i="0" u="none" strike="noStrike" kern="1200" cap="none" spc="0" normalizeH="0" baseline="0" noProof="0" dirty="0">
              <a:ln>
                <a:noFill/>
              </a:ln>
              <a:solidFill>
                <a:prstClr val="black"/>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374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B2442-863C-D114-E77D-F6FF9ECBA84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7D2D351-1665-474F-E559-33C319678A04}"/>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1F46F43A-F637-1376-4D8E-FF6610FEE8D4}"/>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1">
            <a:extLst>
              <a:ext uri="{FF2B5EF4-FFF2-40B4-BE49-F238E27FC236}">
                <a16:creationId xmlns:a16="http://schemas.microsoft.com/office/drawing/2014/main" id="{F50712D8-347E-6133-9C42-5A61865AAC1B}"/>
              </a:ext>
            </a:extLst>
          </p:cNvPr>
          <p:cNvSpPr txBox="1">
            <a:spLocks/>
          </p:cNvSpPr>
          <p:nvPr/>
        </p:nvSpPr>
        <p:spPr>
          <a:xfrm>
            <a:off x="439259" y="939173"/>
            <a:ext cx="11309829" cy="5118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chemeClr val="accent1">
                    <a:lumMod val="75000"/>
                  </a:schemeClr>
                </a:solidFill>
              </a:rPr>
              <a:t>Ejercicio Derechos Arco</a:t>
            </a:r>
          </a:p>
        </p:txBody>
      </p:sp>
      <p:sp>
        <p:nvSpPr>
          <p:cNvPr id="4" name="Marcador de texto 2">
            <a:extLst>
              <a:ext uri="{FF2B5EF4-FFF2-40B4-BE49-F238E27FC236}">
                <a16:creationId xmlns:a16="http://schemas.microsoft.com/office/drawing/2014/main" id="{AF705E7F-D5DD-AFAD-E036-56A3AE807588}"/>
              </a:ext>
            </a:extLst>
          </p:cNvPr>
          <p:cNvSpPr txBox="1">
            <a:spLocks/>
          </p:cNvSpPr>
          <p:nvPr/>
        </p:nvSpPr>
        <p:spPr>
          <a:xfrm>
            <a:off x="6419850" y="2838140"/>
            <a:ext cx="5330190" cy="10531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a:t>Cuando el solicitante no es el titular de los datos o su representante legal no esté debidamente acreditado para solicitarlos </a:t>
            </a:r>
          </a:p>
          <a:p>
            <a:r>
              <a:rPr lang="es-MX" sz="1800"/>
              <a:t>Cuando exista un impedimento legal o resolución de una autoridad competente que limite su acceso o no permita la rectificación, cancelación u oposición </a:t>
            </a:r>
          </a:p>
          <a:p>
            <a:endParaRPr lang="es-ES" sz="1800" dirty="0"/>
          </a:p>
        </p:txBody>
      </p:sp>
      <p:sp>
        <p:nvSpPr>
          <p:cNvPr id="6" name="Marcador de texto 3">
            <a:extLst>
              <a:ext uri="{FF2B5EF4-FFF2-40B4-BE49-F238E27FC236}">
                <a16:creationId xmlns:a16="http://schemas.microsoft.com/office/drawing/2014/main" id="{DC05A318-79EC-E22F-34E6-B163B2174158}"/>
              </a:ext>
            </a:extLst>
          </p:cNvPr>
          <p:cNvSpPr txBox="1">
            <a:spLocks/>
          </p:cNvSpPr>
          <p:nvPr/>
        </p:nvSpPr>
        <p:spPr>
          <a:xfrm>
            <a:off x="6419850" y="2286000"/>
            <a:ext cx="5329238" cy="294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a:t>Situaciones en que se puede negar el Ejercicio de los Derechos ARCO</a:t>
            </a:r>
          </a:p>
          <a:p>
            <a:endParaRPr lang="es-ES" sz="1800" dirty="0"/>
          </a:p>
        </p:txBody>
      </p:sp>
      <p:sp>
        <p:nvSpPr>
          <p:cNvPr id="7" name="Marcador de texto 4">
            <a:extLst>
              <a:ext uri="{FF2B5EF4-FFF2-40B4-BE49-F238E27FC236}">
                <a16:creationId xmlns:a16="http://schemas.microsoft.com/office/drawing/2014/main" id="{82607C30-997B-B8BE-A81A-B68F96B9639B}"/>
              </a:ext>
            </a:extLst>
          </p:cNvPr>
          <p:cNvSpPr txBox="1">
            <a:spLocks/>
          </p:cNvSpPr>
          <p:nvPr/>
        </p:nvSpPr>
        <p:spPr>
          <a:xfrm>
            <a:off x="430531" y="2838140"/>
            <a:ext cx="5330190" cy="16627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dirty="0"/>
              <a:t>El Titular o su representante legal podrán solicitar un formato de ejercicio de Derechos ARCO a la dirección de correo electrónico protecciondedatos@santanderam.com.; dicho formato se deberá llenar, firmar y devolver a la misma dirección de correo, adjuntando datos de identificación.</a:t>
            </a:r>
          </a:p>
          <a:p>
            <a:endParaRPr lang="es-MX" sz="1800" dirty="0"/>
          </a:p>
          <a:p>
            <a:r>
              <a:rPr lang="es-MX" sz="1800" dirty="0"/>
              <a:t>La respuesta a dicho formato, se llevará a cabo por el Responsable dentro de los 20 días hábiles siguientes a la fecha en que haya recibido la solicitud. </a:t>
            </a:r>
          </a:p>
          <a:p>
            <a:endParaRPr lang="es-ES" sz="1800" dirty="0"/>
          </a:p>
        </p:txBody>
      </p:sp>
      <p:sp>
        <p:nvSpPr>
          <p:cNvPr id="8" name="Marcador de texto 5">
            <a:extLst>
              <a:ext uri="{FF2B5EF4-FFF2-40B4-BE49-F238E27FC236}">
                <a16:creationId xmlns:a16="http://schemas.microsoft.com/office/drawing/2014/main" id="{A979F57D-8502-83C7-FAB2-ABE22DCF1CB5}"/>
              </a:ext>
            </a:extLst>
          </p:cNvPr>
          <p:cNvSpPr txBox="1">
            <a:spLocks/>
          </p:cNvSpPr>
          <p:nvPr/>
        </p:nvSpPr>
        <p:spPr>
          <a:xfrm>
            <a:off x="430531" y="2286000"/>
            <a:ext cx="5329238" cy="294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800"/>
              <a:t>Requerimiento ejercer Derechos Arco</a:t>
            </a:r>
          </a:p>
          <a:p>
            <a:endParaRPr lang="es-ES" sz="1800" dirty="0"/>
          </a:p>
        </p:txBody>
      </p:sp>
      <p:cxnSp>
        <p:nvCxnSpPr>
          <p:cNvPr id="9" name="Conector recto 8">
            <a:extLst>
              <a:ext uri="{FF2B5EF4-FFF2-40B4-BE49-F238E27FC236}">
                <a16:creationId xmlns:a16="http://schemas.microsoft.com/office/drawing/2014/main" id="{C9B1C4ED-51FB-E910-68D8-23148DAA3DFA}"/>
              </a:ext>
            </a:extLst>
          </p:cNvPr>
          <p:cNvCxnSpPr>
            <a:cxnSpLocks/>
          </p:cNvCxnSpPr>
          <p:nvPr/>
        </p:nvCxnSpPr>
        <p:spPr>
          <a:xfrm>
            <a:off x="6419850" y="2111706"/>
            <a:ext cx="5329238"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59FF749E-E943-1F50-DDDD-9523CECA9A73}"/>
              </a:ext>
            </a:extLst>
          </p:cNvPr>
          <p:cNvCxnSpPr>
            <a:cxnSpLocks/>
          </p:cNvCxnSpPr>
          <p:nvPr/>
        </p:nvCxnSpPr>
        <p:spPr>
          <a:xfrm>
            <a:off x="442913" y="2111706"/>
            <a:ext cx="53868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Gráfico 10">
            <a:extLst>
              <a:ext uri="{FF2B5EF4-FFF2-40B4-BE49-F238E27FC236}">
                <a16:creationId xmlns:a16="http://schemas.microsoft.com/office/drawing/2014/main" id="{85C482E9-1A73-73F2-FE34-4ADFF4790C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2913" y="1693530"/>
            <a:ext cx="292500" cy="292500"/>
          </a:xfrm>
          <a:prstGeom prst="rect">
            <a:avLst/>
          </a:prstGeom>
        </p:spPr>
      </p:pic>
      <p:pic>
        <p:nvPicPr>
          <p:cNvPr id="12" name="Gráfico 11">
            <a:extLst>
              <a:ext uri="{FF2B5EF4-FFF2-40B4-BE49-F238E27FC236}">
                <a16:creationId xmlns:a16="http://schemas.microsoft.com/office/drawing/2014/main" id="{D3EC2445-BE9E-083A-0140-07B4A7E07F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19850" y="1693530"/>
            <a:ext cx="292500" cy="292500"/>
          </a:xfrm>
          <a:prstGeom prst="rect">
            <a:avLst/>
          </a:prstGeom>
        </p:spPr>
      </p:pic>
    </p:spTree>
    <p:extLst>
      <p:ext uri="{BB962C8B-B14F-4D97-AF65-F5344CB8AC3E}">
        <p14:creationId xmlns:p14="http://schemas.microsoft.com/office/powerpoint/2010/main" val="227962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84FC-2124-C5D5-992C-F21DA84C836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4A967C3-571A-CC1A-C9DE-46E5EEE7C294}"/>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4CBC34F6-4363-C978-5923-F08B20C14325}"/>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1">
            <a:extLst>
              <a:ext uri="{FF2B5EF4-FFF2-40B4-BE49-F238E27FC236}">
                <a16:creationId xmlns:a16="http://schemas.microsoft.com/office/drawing/2014/main" id="{677C6DD1-586C-1B35-1F3B-9565AE717A79}"/>
              </a:ext>
            </a:extLst>
          </p:cNvPr>
          <p:cNvSpPr txBox="1">
            <a:spLocks/>
          </p:cNvSpPr>
          <p:nvPr/>
        </p:nvSpPr>
        <p:spPr>
          <a:xfrm>
            <a:off x="439259" y="939173"/>
            <a:ext cx="11309829" cy="5118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chemeClr val="accent1">
                    <a:lumMod val="75000"/>
                  </a:schemeClr>
                </a:solidFill>
              </a:rPr>
              <a:t>Cumplimiento y Prohibiciones</a:t>
            </a:r>
          </a:p>
        </p:txBody>
      </p:sp>
      <p:sp>
        <p:nvSpPr>
          <p:cNvPr id="4" name="Marcador de texto 2">
            <a:extLst>
              <a:ext uri="{FF2B5EF4-FFF2-40B4-BE49-F238E27FC236}">
                <a16:creationId xmlns:a16="http://schemas.microsoft.com/office/drawing/2014/main" id="{6727909A-CA69-4D67-7593-A620EEC3C1EF}"/>
              </a:ext>
            </a:extLst>
          </p:cNvPr>
          <p:cNvSpPr txBox="1">
            <a:spLocks/>
          </p:cNvSpPr>
          <p:nvPr/>
        </p:nvSpPr>
        <p:spPr>
          <a:xfrm>
            <a:off x="6419850" y="2568456"/>
            <a:ext cx="5330190" cy="12445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a:buClr>
                <a:srgbClr val="FF0000"/>
              </a:buClr>
              <a:buFont typeface="Wingdings" panose="05000000000000000000" pitchFamily="2" charset="2"/>
              <a:buChar char="v"/>
            </a:pPr>
            <a:r>
              <a:rPr lang="es-MX" sz="2400" dirty="0">
                <a:latin typeface="Santander Text Light" panose="020B0304020201020104" pitchFamily="34" charset="0"/>
              </a:rPr>
              <a:t>Esta prohibido que el personal de SAM Mx resguarde en archivos físicos o digitales información sensible de cualquier persona.</a:t>
            </a:r>
          </a:p>
          <a:p>
            <a:pPr marL="171450" indent="-171450" algn="just">
              <a:buClr>
                <a:srgbClr val="FF0000"/>
              </a:buClr>
              <a:buFont typeface="Wingdings" panose="05000000000000000000" pitchFamily="2" charset="2"/>
              <a:buChar char="v"/>
            </a:pPr>
            <a:r>
              <a:rPr lang="es-MX" sz="2400" dirty="0">
                <a:latin typeface="Santander Text Light" panose="020B0304020201020104" pitchFamily="34" charset="0"/>
              </a:rPr>
              <a:t>El personal que posea datos personales debe realizar un inventario electrónico de dicha información, y mantener vigente este archivo y a disposición de auditorías internas o del regulador.</a:t>
            </a:r>
          </a:p>
          <a:p>
            <a:endParaRPr lang="es-ES" sz="2400" dirty="0"/>
          </a:p>
        </p:txBody>
      </p:sp>
      <p:sp>
        <p:nvSpPr>
          <p:cNvPr id="6" name="Marcador de texto 3">
            <a:extLst>
              <a:ext uri="{FF2B5EF4-FFF2-40B4-BE49-F238E27FC236}">
                <a16:creationId xmlns:a16="http://schemas.microsoft.com/office/drawing/2014/main" id="{CE7A17C4-45B3-962F-B85B-9258BBEA7BEE}"/>
              </a:ext>
            </a:extLst>
          </p:cNvPr>
          <p:cNvSpPr txBox="1">
            <a:spLocks/>
          </p:cNvSpPr>
          <p:nvPr/>
        </p:nvSpPr>
        <p:spPr>
          <a:xfrm>
            <a:off x="6419850" y="1691640"/>
            <a:ext cx="5329238" cy="294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dirty="0" err="1"/>
              <a:t>Prohibiciones</a:t>
            </a:r>
            <a:endParaRPr lang="da-DK" sz="2400" dirty="0"/>
          </a:p>
          <a:p>
            <a:endParaRPr lang="es-ES" sz="2400" dirty="0"/>
          </a:p>
        </p:txBody>
      </p:sp>
      <p:sp>
        <p:nvSpPr>
          <p:cNvPr id="7" name="Marcador de texto 4">
            <a:extLst>
              <a:ext uri="{FF2B5EF4-FFF2-40B4-BE49-F238E27FC236}">
                <a16:creationId xmlns:a16="http://schemas.microsoft.com/office/drawing/2014/main" id="{A702C312-A585-83F4-8BCB-5E95FD5B68FB}"/>
              </a:ext>
            </a:extLst>
          </p:cNvPr>
          <p:cNvSpPr txBox="1">
            <a:spLocks/>
          </p:cNvSpPr>
          <p:nvPr/>
        </p:nvSpPr>
        <p:spPr>
          <a:xfrm>
            <a:off x="430532" y="2449584"/>
            <a:ext cx="5330190" cy="13309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Wingdings" panose="05000000000000000000" pitchFamily="2" charset="2"/>
              <a:buChar char="ü"/>
            </a:pPr>
            <a:r>
              <a:rPr lang="es-MX" sz="2400" dirty="0">
                <a:latin typeface="Santander Text Light" panose="020B0304020201020104" pitchFamily="34" charset="0"/>
              </a:rPr>
              <a:t>Licitud, proporcionalidad y transparencia</a:t>
            </a:r>
          </a:p>
          <a:p>
            <a:pPr marL="171450" indent="-171450">
              <a:buClr>
                <a:srgbClr val="2C9DA6"/>
              </a:buClr>
              <a:buFont typeface="Wingdings" panose="05000000000000000000" pitchFamily="2" charset="2"/>
              <a:buChar char="ü"/>
            </a:pPr>
            <a:r>
              <a:rPr lang="es-MX" sz="2400" dirty="0">
                <a:latin typeface="Santander Text Light" panose="020B0304020201020104" pitchFamily="34" charset="0"/>
              </a:rPr>
              <a:t>Finalidades compatibles con el origen de la información recogida.</a:t>
            </a:r>
          </a:p>
          <a:p>
            <a:pPr marL="171450" indent="-171450">
              <a:buFont typeface="Wingdings" panose="05000000000000000000" pitchFamily="2" charset="2"/>
              <a:buChar char="ü"/>
            </a:pPr>
            <a:r>
              <a:rPr lang="es-MX" sz="2400" dirty="0">
                <a:latin typeface="Santander Text Light" panose="020B0304020201020104" pitchFamily="34" charset="0"/>
              </a:rPr>
              <a:t>Minimización y exactitud de los datos personales. </a:t>
            </a:r>
          </a:p>
          <a:p>
            <a:pPr marL="171450" indent="-171450">
              <a:buFont typeface="Wingdings" panose="05000000000000000000" pitchFamily="2" charset="2"/>
              <a:buChar char="ü"/>
            </a:pPr>
            <a:r>
              <a:rPr lang="es-MX" sz="2400" dirty="0">
                <a:latin typeface="Santander Text Light" panose="020B0304020201020104" pitchFamily="34" charset="0"/>
              </a:rPr>
              <a:t>Integridad, confidencialidad, disponibilidad y resiliencia.</a:t>
            </a:r>
            <a:endParaRPr lang="es-ES" sz="2400" dirty="0">
              <a:latin typeface="Santander Text Light" panose="020B0304020201020104" pitchFamily="34" charset="0"/>
            </a:endParaRPr>
          </a:p>
        </p:txBody>
      </p:sp>
      <p:sp>
        <p:nvSpPr>
          <p:cNvPr id="8" name="Marcador de texto 5">
            <a:extLst>
              <a:ext uri="{FF2B5EF4-FFF2-40B4-BE49-F238E27FC236}">
                <a16:creationId xmlns:a16="http://schemas.microsoft.com/office/drawing/2014/main" id="{FAAF0917-5379-39D9-79BF-FE01F6973637}"/>
              </a:ext>
            </a:extLst>
          </p:cNvPr>
          <p:cNvSpPr txBox="1">
            <a:spLocks/>
          </p:cNvSpPr>
          <p:nvPr/>
        </p:nvSpPr>
        <p:spPr>
          <a:xfrm>
            <a:off x="430531" y="1691640"/>
            <a:ext cx="5329238" cy="294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dirty="0" err="1"/>
              <a:t>Cumplimiento</a:t>
            </a:r>
            <a:endParaRPr lang="da-DK" sz="2400" dirty="0"/>
          </a:p>
          <a:p>
            <a:endParaRPr lang="es-ES" sz="2400" dirty="0"/>
          </a:p>
        </p:txBody>
      </p:sp>
    </p:spTree>
    <p:extLst>
      <p:ext uri="{BB962C8B-B14F-4D97-AF65-F5344CB8AC3E}">
        <p14:creationId xmlns:p14="http://schemas.microsoft.com/office/powerpoint/2010/main" val="224711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7156-FB99-3685-ED86-1AF2B6D024C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E06080E-69A9-3DA8-BD84-0C9B377F8276}"/>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08332281-677B-A6F1-2628-402C4BEC02C7}"/>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8">
            <a:extLst>
              <a:ext uri="{FF2B5EF4-FFF2-40B4-BE49-F238E27FC236}">
                <a16:creationId xmlns:a16="http://schemas.microsoft.com/office/drawing/2014/main" id="{640E0CA8-9859-F98C-EE4F-CF3FCDAA91BA}"/>
              </a:ext>
            </a:extLst>
          </p:cNvPr>
          <p:cNvSpPr txBox="1">
            <a:spLocks/>
          </p:cNvSpPr>
          <p:nvPr/>
        </p:nvSpPr>
        <p:spPr>
          <a:xfrm>
            <a:off x="439259" y="939173"/>
            <a:ext cx="11309829" cy="511802"/>
          </a:xfrm>
          <a:prstGeom prst="rect">
            <a:avLst/>
          </a:prstGeom>
        </p:spPr>
        <p:txBody>
          <a:bodyPr lIns="0" tIns="0" rIns="0" bIns="0" anchor="t" anchorCtr="0">
            <a:no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pPr marL="0" marR="0" lvl="0" indent="0" algn="l" defTabSz="742950" rtl="0" eaLnBrk="1" fontAlgn="auto" latinLnBrk="0" hangingPunct="1">
              <a:lnSpc>
                <a:spcPct val="90000"/>
              </a:lnSpc>
              <a:spcBef>
                <a:spcPct val="0"/>
              </a:spcBef>
              <a:spcAft>
                <a:spcPts val="0"/>
              </a:spcAft>
              <a:buClrTx/>
              <a:buSzTx/>
              <a:buFontTx/>
              <a:buNone/>
              <a:tabLst/>
              <a:defRPr/>
            </a:pPr>
            <a:r>
              <a:rPr kumimoji="0" lang="es-ES" sz="2600" b="0" i="0" u="none" strike="noStrike" kern="1200" cap="none" spc="0" normalizeH="0" baseline="0" noProof="0">
                <a:ln>
                  <a:noFill/>
                </a:ln>
                <a:solidFill>
                  <a:srgbClr val="005471"/>
                </a:solidFill>
                <a:effectLst/>
                <a:uLnTx/>
                <a:uFillTx/>
                <a:latin typeface="Santander Headline Light" panose="020B0304020201010104" pitchFamily="34" charset="0"/>
                <a:ea typeface="+mj-ea"/>
              </a:rPr>
              <a:t>Manejo y Seguridad de la Información</a:t>
            </a:r>
            <a:endParaRPr kumimoji="0" lang="es-ES"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j-ea"/>
            </a:endParaRPr>
          </a:p>
        </p:txBody>
      </p:sp>
      <p:sp>
        <p:nvSpPr>
          <p:cNvPr id="4" name="Marcador de texto 9">
            <a:extLst>
              <a:ext uri="{FF2B5EF4-FFF2-40B4-BE49-F238E27FC236}">
                <a16:creationId xmlns:a16="http://schemas.microsoft.com/office/drawing/2014/main" id="{3DE36D77-376F-2289-E931-95B27BD3A06C}"/>
              </a:ext>
            </a:extLst>
          </p:cNvPr>
          <p:cNvSpPr txBox="1">
            <a:spLocks/>
          </p:cNvSpPr>
          <p:nvPr/>
        </p:nvSpPr>
        <p:spPr>
          <a:xfrm>
            <a:off x="430533" y="2001528"/>
            <a:ext cx="3341369" cy="3537424"/>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La información puede presentarse y almacenarse de muchas formas: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Papel</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Microfilm</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Equipos de escritorio</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Medios ópticos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Medios magnéticos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Dispositivos móviles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Computadoras portátiles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endParaRP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La información puede transmitirse vía comunicación verbal.</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6" name="Marcador de texto 10">
            <a:extLst>
              <a:ext uri="{FF2B5EF4-FFF2-40B4-BE49-F238E27FC236}">
                <a16:creationId xmlns:a16="http://schemas.microsoft.com/office/drawing/2014/main" id="{CB25214B-F480-DD22-2D7D-53C7875FEB08}"/>
              </a:ext>
            </a:extLst>
          </p:cNvPr>
          <p:cNvSpPr txBox="1">
            <a:spLocks/>
          </p:cNvSpPr>
          <p:nvPr/>
        </p:nvSpPr>
        <p:spPr>
          <a:xfrm>
            <a:off x="430530" y="1691640"/>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Almacenamiento de la Información</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7" name="Marcador de texto 11">
            <a:extLst>
              <a:ext uri="{FF2B5EF4-FFF2-40B4-BE49-F238E27FC236}">
                <a16:creationId xmlns:a16="http://schemas.microsoft.com/office/drawing/2014/main" id="{B88D6858-E027-CF1A-166A-A7F3D3340C36}"/>
              </a:ext>
            </a:extLst>
          </p:cNvPr>
          <p:cNvSpPr txBox="1">
            <a:spLocks/>
          </p:cNvSpPr>
          <p:nvPr/>
        </p:nvSpPr>
        <p:spPr>
          <a:xfrm>
            <a:off x="4423413" y="2001528"/>
            <a:ext cx="3341369" cy="186337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El acceso a los sistemas de información y su utilización debe limitarse a aquellas funciones que realiza el personal de SAM Asset Managment (SAM).</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La información generada o manejada en SAM es un activo muy importante, fundamental para el desarrollo de sus actividades comerciales y para el mantenimiento de su ventaja competitiva en el mercado. Por ello, los empleados sólo deben utilizarla para los fines autorizados.</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8" name="Marcador de texto 12">
            <a:extLst>
              <a:ext uri="{FF2B5EF4-FFF2-40B4-BE49-F238E27FC236}">
                <a16:creationId xmlns:a16="http://schemas.microsoft.com/office/drawing/2014/main" id="{B90F71C1-8982-F917-CD1B-A00D25162684}"/>
              </a:ext>
            </a:extLst>
          </p:cNvPr>
          <p:cNvSpPr txBox="1">
            <a:spLocks/>
          </p:cNvSpPr>
          <p:nvPr/>
        </p:nvSpPr>
        <p:spPr>
          <a:xfrm>
            <a:off x="4423410" y="1691640"/>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Acceso a sistemas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9" name="Marcador de texto 13">
            <a:extLst>
              <a:ext uri="{FF2B5EF4-FFF2-40B4-BE49-F238E27FC236}">
                <a16:creationId xmlns:a16="http://schemas.microsoft.com/office/drawing/2014/main" id="{7AC3B02C-DD08-D9C6-7D70-2DF5ADABC66D}"/>
              </a:ext>
            </a:extLst>
          </p:cNvPr>
          <p:cNvSpPr txBox="1">
            <a:spLocks/>
          </p:cNvSpPr>
          <p:nvPr/>
        </p:nvSpPr>
        <p:spPr>
          <a:xfrm>
            <a:off x="8416293" y="2001528"/>
            <a:ext cx="3341369" cy="2158026"/>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La seguridad de la información contribuye al éxito de SAM, ayudándole a cumplir su misión, y es considerada una parte importante de la estrategia para alcanzar sus objetivos.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Por eso, la responsabilidad de cada colaborador (empleado, proveedor de servicios, visitantes, agentes, etc.) es observar y seguir las normas, patrones y procedimientos establecidos para el cumplimiento de la normativa de seguridad de la información.</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0" name="Marcador de texto 14">
            <a:extLst>
              <a:ext uri="{FF2B5EF4-FFF2-40B4-BE49-F238E27FC236}">
                <a16:creationId xmlns:a16="http://schemas.microsoft.com/office/drawing/2014/main" id="{2D7F9DA6-DB59-1CA5-4790-06A42A4E0885}"/>
              </a:ext>
            </a:extLst>
          </p:cNvPr>
          <p:cNvSpPr txBox="1">
            <a:spLocks/>
          </p:cNvSpPr>
          <p:nvPr/>
        </p:nvSpPr>
        <p:spPr>
          <a:xfrm>
            <a:off x="8416290" y="1691640"/>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Seguridad de la información</a:t>
            </a: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1" name="Marcador de texto 17">
            <a:extLst>
              <a:ext uri="{FF2B5EF4-FFF2-40B4-BE49-F238E27FC236}">
                <a16:creationId xmlns:a16="http://schemas.microsoft.com/office/drawing/2014/main" id="{E32988B9-03DA-8621-7F1E-A393C934305D}"/>
              </a:ext>
            </a:extLst>
          </p:cNvPr>
          <p:cNvSpPr txBox="1">
            <a:spLocks/>
          </p:cNvSpPr>
          <p:nvPr/>
        </p:nvSpPr>
        <p:spPr>
          <a:xfrm>
            <a:off x="4423413" y="4174794"/>
            <a:ext cx="3341369" cy="1136242"/>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La seguridad de la información es un esfuerzo continuo para utilizar de forma segura la información. Sus principales objetivos son:</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Confidencialidad. Garantizar que sólo las personas autorizadas tengan conocimiento de determinada información.</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Integridad. Garantizar que la información se mantiene fiel y completa, sin modificaciones no autorizadas, tanto deliberadas como accidentales.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Disponibilidad. Garantizar que la información está disponible para todas las personas autorizadas.</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2" name="Marcador de texto 18">
            <a:extLst>
              <a:ext uri="{FF2B5EF4-FFF2-40B4-BE49-F238E27FC236}">
                <a16:creationId xmlns:a16="http://schemas.microsoft.com/office/drawing/2014/main" id="{388B5F08-0349-5781-FABF-01096BE624EF}"/>
              </a:ext>
            </a:extLst>
          </p:cNvPr>
          <p:cNvSpPr txBox="1">
            <a:spLocks/>
          </p:cNvSpPr>
          <p:nvPr/>
        </p:nvSpPr>
        <p:spPr>
          <a:xfrm>
            <a:off x="4423410" y="3864906"/>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Objetivos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3" name="CuadroTexto 12">
            <a:extLst>
              <a:ext uri="{FF2B5EF4-FFF2-40B4-BE49-F238E27FC236}">
                <a16:creationId xmlns:a16="http://schemas.microsoft.com/office/drawing/2014/main" id="{0384364B-5562-3EB3-C702-15932F8974C3}"/>
              </a:ext>
            </a:extLst>
          </p:cNvPr>
          <p:cNvSpPr txBox="1"/>
          <p:nvPr/>
        </p:nvSpPr>
        <p:spPr>
          <a:xfrm>
            <a:off x="8568229" y="4876800"/>
            <a:ext cx="3037490" cy="1477328"/>
          </a:xfrm>
          <a:prstGeom prst="rect">
            <a:avLst/>
          </a:prstGeom>
          <a:solidFill>
            <a:srgbClr val="EC0000">
              <a:lumMod val="20000"/>
              <a:lumOff val="80000"/>
              <a:alpha val="25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000715"/>
                </a:solidFill>
                <a:effectLst/>
                <a:uLnTx/>
                <a:uFillTx/>
                <a:latin typeface="Santander Text Light" panose="020B0304020201020104" pitchFamily="34" charset="0"/>
              </a:rPr>
              <a:t>Actuar con apego a la política de Ciberseguridad,  Código General de Conducta y Código de Conducta en el Mercado de Valores</a:t>
            </a:r>
            <a:endParaRPr kumimoji="0" lang="es-ES" sz="1800" b="0" i="0" u="none" strike="noStrike" kern="0" cap="none" spc="0" normalizeH="0" baseline="0" noProof="0" dirty="0">
              <a:ln>
                <a:noFill/>
              </a:ln>
              <a:solidFill>
                <a:srgbClr val="000715"/>
              </a:solidFill>
              <a:effectLst/>
              <a:uLnTx/>
              <a:uFillTx/>
              <a:latin typeface="Santander Text Light" panose="020B0304020201020104" pitchFamily="34" charset="0"/>
            </a:endParaRPr>
          </a:p>
        </p:txBody>
      </p:sp>
    </p:spTree>
    <p:extLst>
      <p:ext uri="{BB962C8B-B14F-4D97-AF65-F5344CB8AC3E}">
        <p14:creationId xmlns:p14="http://schemas.microsoft.com/office/powerpoint/2010/main" val="3664184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6760-A5ED-2892-36DE-3D52FAB2B39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E52C411-29AF-2B0E-4D57-D777AB0223B7}"/>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9A7A4CCB-C126-E3A5-5758-74277A3B5C79}"/>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8">
            <a:extLst>
              <a:ext uri="{FF2B5EF4-FFF2-40B4-BE49-F238E27FC236}">
                <a16:creationId xmlns:a16="http://schemas.microsoft.com/office/drawing/2014/main" id="{313CF2EA-BCD5-9C26-04D8-F69D1A7ED5E7}"/>
              </a:ext>
            </a:extLst>
          </p:cNvPr>
          <p:cNvSpPr txBox="1">
            <a:spLocks/>
          </p:cNvSpPr>
          <p:nvPr/>
        </p:nvSpPr>
        <p:spPr>
          <a:xfrm>
            <a:off x="439259" y="939173"/>
            <a:ext cx="11309829" cy="511802"/>
          </a:xfrm>
          <a:prstGeom prst="rect">
            <a:avLst/>
          </a:prstGeom>
        </p:spPr>
        <p:txBody>
          <a:bodyPr lIns="0" tIns="0" rIns="0" bIns="0" anchor="t" anchorCtr="0">
            <a:no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pPr marL="0" marR="0" lvl="0" indent="0" algn="l" defTabSz="742950" rtl="0" eaLnBrk="1" fontAlgn="auto" latinLnBrk="0" hangingPunct="1">
              <a:lnSpc>
                <a:spcPct val="90000"/>
              </a:lnSpc>
              <a:spcBef>
                <a:spcPct val="0"/>
              </a:spcBef>
              <a:spcAft>
                <a:spcPts val="0"/>
              </a:spcAft>
              <a:buClrTx/>
              <a:buSzTx/>
              <a:buFontTx/>
              <a:buNone/>
              <a:tabLst/>
              <a:defRPr/>
            </a:pPr>
            <a:r>
              <a:rPr kumimoji="0" lang="es-ES" sz="2600" b="0" i="0" u="none" strike="noStrike" kern="1200" cap="none" spc="0" normalizeH="0" baseline="0" noProof="0">
                <a:ln>
                  <a:noFill/>
                </a:ln>
                <a:solidFill>
                  <a:srgbClr val="005471"/>
                </a:solidFill>
                <a:effectLst/>
                <a:uLnTx/>
                <a:uFillTx/>
                <a:latin typeface="Santander Headline Light" panose="020B0304020201010104" pitchFamily="34" charset="0"/>
                <a:ea typeface="+mj-ea"/>
              </a:rPr>
              <a:t>Clasificación de la Información</a:t>
            </a:r>
            <a:endParaRPr kumimoji="0" lang="es-ES"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j-ea"/>
            </a:endParaRPr>
          </a:p>
        </p:txBody>
      </p:sp>
      <p:sp>
        <p:nvSpPr>
          <p:cNvPr id="4" name="Marcador de texto 9">
            <a:extLst>
              <a:ext uri="{FF2B5EF4-FFF2-40B4-BE49-F238E27FC236}">
                <a16:creationId xmlns:a16="http://schemas.microsoft.com/office/drawing/2014/main" id="{A1E07CB8-B62F-482A-4D5C-B42E34C0B82A}"/>
              </a:ext>
            </a:extLst>
          </p:cNvPr>
          <p:cNvSpPr txBox="1">
            <a:spLocks/>
          </p:cNvSpPr>
          <p:nvPr/>
        </p:nvSpPr>
        <p:spPr>
          <a:xfrm>
            <a:off x="430533" y="2001528"/>
            <a:ext cx="3341369" cy="1136242"/>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171450" marR="0" lvl="0" indent="-171450" algn="l" defTabSz="742950" rtl="0" eaLnBrk="1" fontAlgn="auto" latinLnBrk="0" hangingPunct="1">
              <a:lnSpc>
                <a:spcPct val="100000"/>
              </a:lnSpc>
              <a:spcBef>
                <a:spcPts val="813"/>
              </a:spcBef>
              <a:spcAft>
                <a:spcPts val="0"/>
              </a:spcAft>
              <a:buClrTx/>
              <a:buSzTx/>
              <a:buFontTx/>
              <a:buChar char="-"/>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Confidencialidad: Garantizar que sólo las personas autorizadas tengan conocimiento de determinada información.</a:t>
            </a:r>
          </a:p>
          <a:p>
            <a:pPr marL="171450" marR="0" lvl="0" indent="-171450" algn="l" defTabSz="742950" rtl="0" eaLnBrk="1" fontAlgn="auto" latinLnBrk="0" hangingPunct="1">
              <a:lnSpc>
                <a:spcPct val="100000"/>
              </a:lnSpc>
              <a:spcBef>
                <a:spcPts val="813"/>
              </a:spcBef>
              <a:spcAft>
                <a:spcPts val="0"/>
              </a:spcAft>
              <a:buClrTx/>
              <a:buSzTx/>
              <a:buFontTx/>
              <a:buChar char="-"/>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Integridad: Garantizar que la información se mantiene fiel y completa, sin modificaciones no autorizadas.</a:t>
            </a:r>
          </a:p>
          <a:p>
            <a:pPr marL="171450" marR="0" lvl="0" indent="-171450" algn="l" defTabSz="742950" rtl="0" eaLnBrk="1" fontAlgn="auto" latinLnBrk="0" hangingPunct="1">
              <a:lnSpc>
                <a:spcPct val="100000"/>
              </a:lnSpc>
              <a:spcBef>
                <a:spcPts val="813"/>
              </a:spcBef>
              <a:spcAft>
                <a:spcPts val="0"/>
              </a:spcAft>
              <a:buClrTx/>
              <a:buSzTx/>
              <a:buFontTx/>
              <a:buChar char="-"/>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Disponibilidad: Garantizar que la información está disponible para las personas autorizadas.</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6" name="Marcador de texto 10">
            <a:extLst>
              <a:ext uri="{FF2B5EF4-FFF2-40B4-BE49-F238E27FC236}">
                <a16:creationId xmlns:a16="http://schemas.microsoft.com/office/drawing/2014/main" id="{B48B8C38-1754-3068-C010-D3A8DFD76389}"/>
              </a:ext>
            </a:extLst>
          </p:cNvPr>
          <p:cNvSpPr txBox="1">
            <a:spLocks/>
          </p:cNvSpPr>
          <p:nvPr/>
        </p:nvSpPr>
        <p:spPr>
          <a:xfrm>
            <a:off x="430530" y="1691640"/>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Objetivos principales</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7" name="Marcador de texto 11">
            <a:extLst>
              <a:ext uri="{FF2B5EF4-FFF2-40B4-BE49-F238E27FC236}">
                <a16:creationId xmlns:a16="http://schemas.microsoft.com/office/drawing/2014/main" id="{B6DAF098-E8FC-39AF-CEB7-0B9D6BCBB0ED}"/>
              </a:ext>
            </a:extLst>
          </p:cNvPr>
          <p:cNvSpPr txBox="1">
            <a:spLocks/>
          </p:cNvSpPr>
          <p:nvPr/>
        </p:nvSpPr>
        <p:spPr>
          <a:xfrm>
            <a:off x="4423413" y="2001528"/>
            <a:ext cx="3341369" cy="1136242"/>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Su divulgación en medios de comunicación públicos es incluso beneficiosa para la organización. Existe un flujo de aprobación definido para determinar que una información es pública.</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8" name="Marcador de texto 12">
            <a:extLst>
              <a:ext uri="{FF2B5EF4-FFF2-40B4-BE49-F238E27FC236}">
                <a16:creationId xmlns:a16="http://schemas.microsoft.com/office/drawing/2014/main" id="{D501BB94-5EB0-AB99-DF41-004C450A07CC}"/>
              </a:ext>
            </a:extLst>
          </p:cNvPr>
          <p:cNvSpPr txBox="1">
            <a:spLocks/>
          </p:cNvSpPr>
          <p:nvPr/>
        </p:nvSpPr>
        <p:spPr>
          <a:xfrm>
            <a:off x="4423410" y="1691640"/>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Información Pública</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9" name="Marcador de texto 17">
            <a:extLst>
              <a:ext uri="{FF2B5EF4-FFF2-40B4-BE49-F238E27FC236}">
                <a16:creationId xmlns:a16="http://schemas.microsoft.com/office/drawing/2014/main" id="{6BF0A2DC-F6B2-4FE3-4BA6-440271B06F82}"/>
              </a:ext>
            </a:extLst>
          </p:cNvPr>
          <p:cNvSpPr txBox="1">
            <a:spLocks/>
          </p:cNvSpPr>
          <p:nvPr/>
        </p:nvSpPr>
        <p:spPr>
          <a:xfrm>
            <a:off x="430533" y="4174794"/>
            <a:ext cx="3341369" cy="1136242"/>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Tiene carácter de secreto absoluto en SAM. Por tanto, su disponibilidad, integridad y confidencialidad son críticas. El compromiso de alguno de los atributos anteriores impacta gravemente a las operaciones de la organización, pudiendo llegar a impedir la continuidad de su negocio. Su seguridad es prioritaria.</a:t>
            </a:r>
            <a:r>
              <a:rPr kumimoji="0" lang="es-ES"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 </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SAM maneja otros 2 niveles de seguridad más restrictivos:</a:t>
            </a:r>
          </a:p>
          <a:p>
            <a:pPr marL="171450" marR="0" lvl="0" indent="-171450" algn="l" defTabSz="742950" rtl="0" eaLnBrk="1" fontAlgn="auto" latinLnBrk="0" hangingPunct="1">
              <a:lnSpc>
                <a:spcPct val="100000"/>
              </a:lnSpc>
              <a:spcBef>
                <a:spcPts val="813"/>
              </a:spcBef>
              <a:spcAft>
                <a:spcPts val="0"/>
              </a:spcAft>
              <a:buClrTx/>
              <a:buSzTx/>
              <a:buFontTx/>
              <a:buChar char="-"/>
              <a:tabLst/>
              <a:defRPr/>
            </a:pPr>
            <a:r>
              <a:rPr kumimoji="0" lang="es-ES"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Confidencial Restringida</a:t>
            </a:r>
          </a:p>
          <a:p>
            <a:pPr marL="171450" marR="0" lvl="0" indent="-171450" algn="l" defTabSz="742950" rtl="0" eaLnBrk="1" fontAlgn="auto" latinLnBrk="0" hangingPunct="1">
              <a:lnSpc>
                <a:spcPct val="100000"/>
              </a:lnSpc>
              <a:spcBef>
                <a:spcPts val="813"/>
              </a:spcBef>
              <a:spcAft>
                <a:spcPts val="0"/>
              </a:spcAft>
              <a:buClrTx/>
              <a:buSzTx/>
              <a:buFontTx/>
              <a:buChar char="-"/>
              <a:tabLst/>
              <a:defRPr/>
            </a:pPr>
            <a:r>
              <a:rPr kumimoji="0" lang="es-ES"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Secreta</a:t>
            </a:r>
            <a:endParaRPr kumimoji="0" lang="es-MX"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0" name="Marcador de texto 18">
            <a:extLst>
              <a:ext uri="{FF2B5EF4-FFF2-40B4-BE49-F238E27FC236}">
                <a16:creationId xmlns:a16="http://schemas.microsoft.com/office/drawing/2014/main" id="{34750A65-C6C9-C067-9F5A-E3003F5326B9}"/>
              </a:ext>
            </a:extLst>
          </p:cNvPr>
          <p:cNvSpPr txBox="1">
            <a:spLocks/>
          </p:cNvSpPr>
          <p:nvPr/>
        </p:nvSpPr>
        <p:spPr>
          <a:xfrm>
            <a:off x="430530" y="3864906"/>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Información Confidencial</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1" name="Marcador de texto 1">
            <a:extLst>
              <a:ext uri="{FF2B5EF4-FFF2-40B4-BE49-F238E27FC236}">
                <a16:creationId xmlns:a16="http://schemas.microsoft.com/office/drawing/2014/main" id="{22C1878E-534C-8DE7-B8B3-71D22A3092D9}"/>
              </a:ext>
            </a:extLst>
          </p:cNvPr>
          <p:cNvSpPr txBox="1">
            <a:spLocks/>
          </p:cNvSpPr>
          <p:nvPr/>
        </p:nvSpPr>
        <p:spPr>
          <a:xfrm>
            <a:off x="4423413" y="4174794"/>
            <a:ext cx="3341369" cy="1136242"/>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Es información de acceso restringido a los empleados de SAM. El compromiso de su confidencialidad causaría un impacto de gravedad media o leve en la organización. Exige un esfuerzo apropiado para mantener su seguridad.</a:t>
            </a:r>
            <a:endPar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2" name="Marcador de texto 2">
            <a:extLst>
              <a:ext uri="{FF2B5EF4-FFF2-40B4-BE49-F238E27FC236}">
                <a16:creationId xmlns:a16="http://schemas.microsoft.com/office/drawing/2014/main" id="{B43C87BC-244C-B22A-A2CC-2963F637215C}"/>
              </a:ext>
            </a:extLst>
          </p:cNvPr>
          <p:cNvSpPr txBox="1">
            <a:spLocks/>
          </p:cNvSpPr>
          <p:nvPr/>
        </p:nvSpPr>
        <p:spPr>
          <a:xfrm>
            <a:off x="4423410" y="3864906"/>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6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Información uso interno</a:t>
            </a: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3" name="Rectángulo: esquinas redondeadas 12">
            <a:extLst>
              <a:ext uri="{FF2B5EF4-FFF2-40B4-BE49-F238E27FC236}">
                <a16:creationId xmlns:a16="http://schemas.microsoft.com/office/drawing/2014/main" id="{5F3DEE34-F9FF-9809-8B4D-F0EC2B3560FD}"/>
              </a:ext>
            </a:extLst>
          </p:cNvPr>
          <p:cNvSpPr/>
          <p:nvPr/>
        </p:nvSpPr>
        <p:spPr>
          <a:xfrm>
            <a:off x="4328160" y="5405120"/>
            <a:ext cx="4104640" cy="1136242"/>
          </a:xfrm>
          <a:prstGeom prst="roundRect">
            <a:avLst/>
          </a:prstGeom>
          <a:solidFill>
            <a:srgbClr val="D0B04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200" b="0" i="1" u="none" strike="noStrike" kern="0" cap="none" spc="0" normalizeH="0" baseline="0" noProof="0" dirty="0">
                <a:ln>
                  <a:noFill/>
                </a:ln>
                <a:solidFill>
                  <a:srgbClr val="D0B047">
                    <a:lumMod val="50000"/>
                  </a:srgbClr>
                </a:solidFill>
                <a:effectLst/>
                <a:uLnTx/>
                <a:uFillTx/>
                <a:latin typeface="Santander Text Light" panose="020B0304020201020104" pitchFamily="34" charset="0"/>
                <a:ea typeface="+mn-ea"/>
                <a:cs typeface="+mn-cs"/>
              </a:rPr>
              <a:t>La información es uno de los bienes más importantes de SAM. Por tanto, tiene que ser debidamente protegida para que mantenga sus atributos de integridad, confidencialidad y disponibilidad.</a:t>
            </a:r>
            <a:endParaRPr kumimoji="0" lang="es-ES" sz="1200" b="0" i="1" u="none" strike="noStrike" kern="0" cap="none" spc="0" normalizeH="0" baseline="0" noProof="0" dirty="0">
              <a:ln>
                <a:noFill/>
              </a:ln>
              <a:solidFill>
                <a:srgbClr val="D0B047">
                  <a:lumMod val="50000"/>
                </a:srgbClr>
              </a:solidFill>
              <a:effectLst/>
              <a:uLnTx/>
              <a:uFillTx/>
              <a:latin typeface="Santander Text Light" panose="020B0304020201020104" pitchFamily="34" charset="0"/>
              <a:ea typeface="+mn-ea"/>
              <a:cs typeface="+mn-cs"/>
            </a:endParaRPr>
          </a:p>
        </p:txBody>
      </p:sp>
    </p:spTree>
    <p:extLst>
      <p:ext uri="{BB962C8B-B14F-4D97-AF65-F5344CB8AC3E}">
        <p14:creationId xmlns:p14="http://schemas.microsoft.com/office/powerpoint/2010/main" val="1172744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209BB-6532-EC4D-E535-16D3C637EDB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A6B5689-5DC4-40AF-7D80-DB99B8710310}"/>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DEDE9DFC-1072-7D13-6690-80305A53F380}"/>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33">
            <a:extLst>
              <a:ext uri="{FF2B5EF4-FFF2-40B4-BE49-F238E27FC236}">
                <a16:creationId xmlns:a16="http://schemas.microsoft.com/office/drawing/2014/main" id="{6CE69F14-4970-92A9-BC84-8AE1865DCCE0}"/>
              </a:ext>
            </a:extLst>
          </p:cNvPr>
          <p:cNvSpPr txBox="1">
            <a:spLocks/>
          </p:cNvSpPr>
          <p:nvPr/>
        </p:nvSpPr>
        <p:spPr>
          <a:xfrm>
            <a:off x="439259" y="939173"/>
            <a:ext cx="11309829" cy="511802"/>
          </a:xfrm>
          <a:prstGeom prst="rect">
            <a:avLst/>
          </a:prstGeom>
        </p:spPr>
        <p:txBody>
          <a:bodyPr lIns="0" tIns="0" rIns="0" bIns="0" anchor="t" anchorCtr="0">
            <a:no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pPr marL="0" marR="0" lvl="0" indent="0" algn="l" defTabSz="742950" rtl="0" eaLnBrk="1" fontAlgn="auto" latinLnBrk="0" hangingPunct="1">
              <a:lnSpc>
                <a:spcPct val="90000"/>
              </a:lnSpc>
              <a:spcBef>
                <a:spcPct val="0"/>
              </a:spcBef>
              <a:spcAft>
                <a:spcPts val="0"/>
              </a:spcAft>
              <a:buClrTx/>
              <a:buSzTx/>
              <a:buFontTx/>
              <a:buNone/>
              <a:tabLst/>
              <a:defRPr/>
            </a:pPr>
            <a:r>
              <a:rPr kumimoji="0" lang="es-ES" sz="2600" b="0" i="0" u="none" strike="noStrike" kern="1200" cap="none" spc="0" normalizeH="0" baseline="0" noProof="0">
                <a:ln>
                  <a:noFill/>
                </a:ln>
                <a:solidFill>
                  <a:srgbClr val="005471"/>
                </a:solidFill>
                <a:effectLst/>
                <a:uLnTx/>
                <a:uFillTx/>
                <a:latin typeface="Santander Headline Light" panose="020B0304020201010104" pitchFamily="34" charset="0"/>
                <a:ea typeface="+mj-ea"/>
              </a:rPr>
              <a:t>Tratamiento Información Confidencia</a:t>
            </a:r>
            <a:endParaRPr kumimoji="0" lang="es-ES"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j-ea"/>
            </a:endParaRPr>
          </a:p>
        </p:txBody>
      </p:sp>
      <p:sp>
        <p:nvSpPr>
          <p:cNvPr id="4" name="Marcador de texto 2">
            <a:extLst>
              <a:ext uri="{FF2B5EF4-FFF2-40B4-BE49-F238E27FC236}">
                <a16:creationId xmlns:a16="http://schemas.microsoft.com/office/drawing/2014/main" id="{4CB18B6E-6432-D965-F89F-594BA32B96E6}"/>
              </a:ext>
            </a:extLst>
          </p:cNvPr>
          <p:cNvSpPr txBox="1">
            <a:spLocks/>
          </p:cNvSpPr>
          <p:nvPr/>
        </p:nvSpPr>
        <p:spPr>
          <a:xfrm>
            <a:off x="439260" y="2529848"/>
            <a:ext cx="1946910" cy="401478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0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000" b="0" i="0" u="none" strike="noStrike" kern="1200" cap="none" spc="0" normalizeH="0" baseline="0" noProof="0">
                <a:ln>
                  <a:noFill/>
                </a:ln>
                <a:solidFill>
                  <a:srgbClr val="000715"/>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Se debe solicitar de forma explícita la confidencialidad de una información. Para ello se puede, por ejemplo, marcar cada página del documento con la etiqueta “Confidencial”. Cuando sea posible se deben incluir datos adicionales, tales como el nombre del autor y la fecha de validez.</a:t>
            </a:r>
            <a:endParaRPr kumimoji="0" lang="es-ES" sz="10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6" name="Marcador de texto 3">
            <a:extLst>
              <a:ext uri="{FF2B5EF4-FFF2-40B4-BE49-F238E27FC236}">
                <a16:creationId xmlns:a16="http://schemas.microsoft.com/office/drawing/2014/main" id="{B07FF25B-6FFC-4F03-02E0-18C3ABD8688F}"/>
              </a:ext>
            </a:extLst>
          </p:cNvPr>
          <p:cNvSpPr txBox="1">
            <a:spLocks/>
          </p:cNvSpPr>
          <p:nvPr/>
        </p:nvSpPr>
        <p:spPr>
          <a:xfrm>
            <a:off x="439259" y="2219960"/>
            <a:ext cx="1946910"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14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Generación</a:t>
            </a:r>
            <a:endParaRPr kumimoji="0" lang="da-DK"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7" name="Marcador de texto 4">
            <a:extLst>
              <a:ext uri="{FF2B5EF4-FFF2-40B4-BE49-F238E27FC236}">
                <a16:creationId xmlns:a16="http://schemas.microsoft.com/office/drawing/2014/main" id="{9622000C-9F30-4935-3A80-E8E989112095}"/>
              </a:ext>
            </a:extLst>
          </p:cNvPr>
          <p:cNvSpPr txBox="1">
            <a:spLocks/>
          </p:cNvSpPr>
          <p:nvPr/>
        </p:nvSpPr>
        <p:spPr>
          <a:xfrm>
            <a:off x="2786220" y="2529848"/>
            <a:ext cx="1946910" cy="401478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0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000" b="0" i="0" u="none" strike="noStrike" kern="1200" cap="none" spc="0" normalizeH="0" baseline="0" noProof="0">
                <a:ln>
                  <a:noFill/>
                </a:ln>
                <a:solidFill>
                  <a:srgbClr val="000715"/>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La concientización de los usuarios respecto a este punto es crítica. La información confidencial debe almacenarse en un lugar secreto, seguro y de acceso restringido. Cuando se almacene en un equipo, deben utilizarse técnicas criptográficas y contraseñas de acceso. Preste especial atención a dispositivos móviles, tales como computadoras portátiles, que pueden ser sustraídas. Deshágase de toda información confidencial impresa en papel, anotada en rotafolios o almacenada en computadoras ajenas utilizados puntualmente para hacer una presentación. </a:t>
            </a:r>
            <a:endParaRPr kumimoji="0" lang="es-ES" sz="10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8" name="Marcador de texto 5">
            <a:extLst>
              <a:ext uri="{FF2B5EF4-FFF2-40B4-BE49-F238E27FC236}">
                <a16:creationId xmlns:a16="http://schemas.microsoft.com/office/drawing/2014/main" id="{F8842399-8129-53F7-D909-10BEAA3EE9DF}"/>
              </a:ext>
            </a:extLst>
          </p:cNvPr>
          <p:cNvSpPr txBox="1">
            <a:spLocks/>
          </p:cNvSpPr>
          <p:nvPr/>
        </p:nvSpPr>
        <p:spPr>
          <a:xfrm>
            <a:off x="2786219" y="2219960"/>
            <a:ext cx="1946910"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14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Almacenamiento</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9" name="Marcador de texto 6">
            <a:extLst>
              <a:ext uri="{FF2B5EF4-FFF2-40B4-BE49-F238E27FC236}">
                <a16:creationId xmlns:a16="http://schemas.microsoft.com/office/drawing/2014/main" id="{3E6E04F9-8DC6-22C8-BEC3-D552DFB4AD40}"/>
              </a:ext>
            </a:extLst>
          </p:cNvPr>
          <p:cNvSpPr txBox="1">
            <a:spLocks/>
          </p:cNvSpPr>
          <p:nvPr/>
        </p:nvSpPr>
        <p:spPr>
          <a:xfrm>
            <a:off x="5133180" y="2529848"/>
            <a:ext cx="1946910" cy="401478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0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000" b="0" i="0" u="none" strike="noStrike" kern="1200" cap="none" spc="0" normalizeH="0" baseline="0" noProof="0">
                <a:ln>
                  <a:noFill/>
                </a:ln>
                <a:solidFill>
                  <a:srgbClr val="000715"/>
                </a:solidFill>
                <a:effectLst/>
                <a:uLnTx/>
                <a:uFillTx/>
                <a:latin typeface="Santander Text Light" panose="020B0304020201020104" pitchFamily="34" charset="0"/>
                <a:ea typeface="+mn-ea"/>
                <a:cs typeface="Arial" panose="020B0604020202020204" pitchFamily="34" charset="0"/>
              </a:rPr>
              <a:t>Para evitar riesgos innecesarios, sólo debe acceder a la información confidencial cuando lo requiera expresamente. Preste también atención a las recomendaciones sobre contraseñas y accesos para hacer un uso apropiado de la misma.</a:t>
            </a:r>
            <a:endParaRPr kumimoji="0" lang="es-ES" sz="10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0" name="Marcador de texto 7">
            <a:extLst>
              <a:ext uri="{FF2B5EF4-FFF2-40B4-BE49-F238E27FC236}">
                <a16:creationId xmlns:a16="http://schemas.microsoft.com/office/drawing/2014/main" id="{6F746A6D-73C5-5738-4E8D-E6D5F73698FD}"/>
              </a:ext>
            </a:extLst>
          </p:cNvPr>
          <p:cNvSpPr txBox="1">
            <a:spLocks/>
          </p:cNvSpPr>
          <p:nvPr/>
        </p:nvSpPr>
        <p:spPr>
          <a:xfrm>
            <a:off x="5133179" y="2219960"/>
            <a:ext cx="1946910"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14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Uso</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1" name="Marcador de texto 8">
            <a:extLst>
              <a:ext uri="{FF2B5EF4-FFF2-40B4-BE49-F238E27FC236}">
                <a16:creationId xmlns:a16="http://schemas.microsoft.com/office/drawing/2014/main" id="{43BA4C84-6416-FF0A-507A-C19824106AA7}"/>
              </a:ext>
            </a:extLst>
          </p:cNvPr>
          <p:cNvSpPr txBox="1">
            <a:spLocks/>
          </p:cNvSpPr>
          <p:nvPr/>
        </p:nvSpPr>
        <p:spPr>
          <a:xfrm>
            <a:off x="7480140" y="2529848"/>
            <a:ext cx="1946910" cy="401478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0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000" b="0" i="0" u="none" strike="noStrike" kern="1200" cap="none" spc="0" normalizeH="0" baseline="0" noProof="0">
                <a:ln>
                  <a:noFill/>
                </a:ln>
                <a:solidFill>
                  <a:srgbClr val="000715"/>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Sólo se pueden hacer copias con autorización del propietario de la información. La copia y distribución de archivos electrónicos requiere especial atención por la facilidad con que pueden llegar a muchas personas. La transferencia debe hacerse en persona, por medios de entrega autorizados (mediante sobres sellados y separados del correo convencional) o utilizando técnicas criptográficas. Los destinatarios deben ser registrados con todos los datos pertinentes.</a:t>
            </a:r>
            <a:endParaRPr kumimoji="0" lang="es-ES" sz="10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2" name="Marcador de texto 9">
            <a:extLst>
              <a:ext uri="{FF2B5EF4-FFF2-40B4-BE49-F238E27FC236}">
                <a16:creationId xmlns:a16="http://schemas.microsoft.com/office/drawing/2014/main" id="{C218E46C-20BD-65FB-085D-CA9C31F58B53}"/>
              </a:ext>
            </a:extLst>
          </p:cNvPr>
          <p:cNvSpPr txBox="1">
            <a:spLocks/>
          </p:cNvSpPr>
          <p:nvPr/>
        </p:nvSpPr>
        <p:spPr>
          <a:xfrm>
            <a:off x="7480139" y="2219960"/>
            <a:ext cx="1946910"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14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Transferencia</a:t>
            </a:r>
            <a:endParaRPr kumimoji="0" lang="da-DK"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3" name="Marcador de texto 10">
            <a:extLst>
              <a:ext uri="{FF2B5EF4-FFF2-40B4-BE49-F238E27FC236}">
                <a16:creationId xmlns:a16="http://schemas.microsoft.com/office/drawing/2014/main" id="{2834D536-B32C-656A-B9BD-DD2BA2E18DB3}"/>
              </a:ext>
            </a:extLst>
          </p:cNvPr>
          <p:cNvSpPr txBox="1">
            <a:spLocks/>
          </p:cNvSpPr>
          <p:nvPr/>
        </p:nvSpPr>
        <p:spPr>
          <a:xfrm>
            <a:off x="9827100" y="2529848"/>
            <a:ext cx="1946910" cy="401478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0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000" b="0" i="0" u="none" strike="noStrike" kern="1200" cap="none" spc="0" normalizeH="0" baseline="0" noProof="0">
                <a:ln>
                  <a:noFill/>
                </a:ln>
                <a:solidFill>
                  <a:srgbClr val="000715"/>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Cuando la información confidencial impresa o sus copias ya no son necesarias, deben destruirse mediante las máquinas destructoras de papel que existen en las instalaciones de SAM. Asegúrese de que el papel se destruye completamente. Respecto a los medios electrónicos, no basta con borrar el fichero correspondiente. Es necesario utilizar programas especiales para garantizar el borrado de la información.</a:t>
            </a:r>
            <a:endParaRPr kumimoji="0" lang="es-ES" sz="1000" b="0" i="0" u="none" strike="noStrike" kern="1200" cap="none" spc="0" normalizeH="0" baseline="0" noProof="0">
              <a:ln>
                <a:noFill/>
              </a:ln>
              <a:solidFill>
                <a:srgbClr val="000715"/>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0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endParaRPr>
          </a:p>
        </p:txBody>
      </p:sp>
      <p:sp>
        <p:nvSpPr>
          <p:cNvPr id="14" name="Marcador de texto 11">
            <a:extLst>
              <a:ext uri="{FF2B5EF4-FFF2-40B4-BE49-F238E27FC236}">
                <a16:creationId xmlns:a16="http://schemas.microsoft.com/office/drawing/2014/main" id="{579DC344-B7CA-B802-C916-5DF57A3DFD11}"/>
              </a:ext>
            </a:extLst>
          </p:cNvPr>
          <p:cNvSpPr txBox="1">
            <a:spLocks/>
          </p:cNvSpPr>
          <p:nvPr/>
        </p:nvSpPr>
        <p:spPr>
          <a:xfrm>
            <a:off x="9827099" y="2219960"/>
            <a:ext cx="1946910"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1400" b="0" i="0" u="none" strike="noStrike" kern="1200" cap="none" spc="0" normalizeH="0" baseline="0" noProof="0">
                <a:ln>
                  <a:noFill/>
                </a:ln>
                <a:solidFill>
                  <a:srgbClr val="000715"/>
                </a:solidFill>
                <a:effectLst/>
                <a:uLnTx/>
                <a:uFillTx/>
                <a:latin typeface="Santander Headline" panose="020B0504020201020104" pitchFamily="34" charset="0"/>
                <a:ea typeface="+mn-ea"/>
                <a:cs typeface="Arial" panose="020B0604020202020204" pitchFamily="34" charset="0"/>
              </a:rPr>
              <a:t>Destrucción</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15" name="Marcador de texto 5">
            <a:extLst>
              <a:ext uri="{FF2B5EF4-FFF2-40B4-BE49-F238E27FC236}">
                <a16:creationId xmlns:a16="http://schemas.microsoft.com/office/drawing/2014/main" id="{60C85D2A-08B4-902E-F7B7-87C596E88D6C}"/>
              </a:ext>
            </a:extLst>
          </p:cNvPr>
          <p:cNvSpPr txBox="1">
            <a:spLocks/>
          </p:cNvSpPr>
          <p:nvPr/>
        </p:nvSpPr>
        <p:spPr>
          <a:xfrm>
            <a:off x="439259" y="1533200"/>
            <a:ext cx="11204101"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4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ctr"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da-DK" sz="20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rPr>
              <a:t>Ciclo de Vida de la Información</a:t>
            </a:r>
          </a:p>
          <a:p>
            <a:pPr marL="0" marR="0" lvl="0" indent="0" algn="ctr"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endParaRPr kumimoji="0" lang="es-ES" sz="14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cxnSp>
        <p:nvCxnSpPr>
          <p:cNvPr id="16" name="Conector recto de flecha 15">
            <a:extLst>
              <a:ext uri="{FF2B5EF4-FFF2-40B4-BE49-F238E27FC236}">
                <a16:creationId xmlns:a16="http://schemas.microsoft.com/office/drawing/2014/main" id="{1C354FD0-1250-C239-2C9B-9ABF09F0BA55}"/>
              </a:ext>
            </a:extLst>
          </p:cNvPr>
          <p:cNvCxnSpPr/>
          <p:nvPr/>
        </p:nvCxnSpPr>
        <p:spPr>
          <a:xfrm>
            <a:off x="439259" y="1827848"/>
            <a:ext cx="11309829" cy="0"/>
          </a:xfrm>
          <a:prstGeom prst="straightConnector1">
            <a:avLst/>
          </a:prstGeom>
          <a:noFill/>
          <a:ln w="6350" cap="flat" cmpd="sng" algn="ctr">
            <a:solidFill>
              <a:srgbClr val="EC0000"/>
            </a:solidFill>
            <a:prstDash val="solid"/>
            <a:miter lim="800000"/>
            <a:headEnd type="triangle"/>
            <a:tailEnd type="triangle"/>
          </a:ln>
          <a:effectLst/>
        </p:spPr>
      </p:cxnSp>
      <p:sp>
        <p:nvSpPr>
          <p:cNvPr id="17" name="CuadroTexto 16">
            <a:extLst>
              <a:ext uri="{FF2B5EF4-FFF2-40B4-BE49-F238E27FC236}">
                <a16:creationId xmlns:a16="http://schemas.microsoft.com/office/drawing/2014/main" id="{83B39E71-092C-C6D8-49E6-C6177CC2CED3}"/>
              </a:ext>
            </a:extLst>
          </p:cNvPr>
          <p:cNvSpPr txBox="1"/>
          <p:nvPr/>
        </p:nvSpPr>
        <p:spPr>
          <a:xfrm>
            <a:off x="451719" y="5541326"/>
            <a:ext cx="11309829" cy="584775"/>
          </a:xfrm>
          <a:prstGeom prst="rect">
            <a:avLst/>
          </a:prstGeom>
          <a:noFill/>
        </p:spPr>
        <p:txBody>
          <a:bodyPr wrap="square" rtlCol="0">
            <a:spAutoFit/>
          </a:bodyPr>
          <a:lstStyle/>
          <a:p>
            <a:r>
              <a:rPr lang="es-MX" sz="1600" i="1" dirty="0">
                <a:solidFill>
                  <a:srgbClr val="000715"/>
                </a:solidFill>
                <a:latin typeface="Santander Headline Light" panose="020B0304020201010104"/>
              </a:rPr>
              <a:t>WARNING: Si pierdes información confidencial o te fue sustraída de algún modo, debes avisar al responsable del área de Tecnología de la Información para evaluar el impacto y los riesgos, así como definir un plan de acción.</a:t>
            </a:r>
            <a:endParaRPr lang="es-ES" sz="1600" i="1" dirty="0">
              <a:solidFill>
                <a:srgbClr val="000715"/>
              </a:solidFill>
              <a:latin typeface="Santander Headline Light" panose="020B0304020201010104"/>
            </a:endParaRPr>
          </a:p>
        </p:txBody>
      </p:sp>
    </p:spTree>
    <p:extLst>
      <p:ext uri="{BB962C8B-B14F-4D97-AF65-F5344CB8AC3E}">
        <p14:creationId xmlns:p14="http://schemas.microsoft.com/office/powerpoint/2010/main" val="108081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6A636-CFAA-B039-403D-27E18E5E85F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9CBEB91-2A10-E315-F881-E2AC1BDAD36F}"/>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81E0A848-35B1-8998-F92F-D80A4DEB90F9}"/>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1">
            <a:extLst>
              <a:ext uri="{FF2B5EF4-FFF2-40B4-BE49-F238E27FC236}">
                <a16:creationId xmlns:a16="http://schemas.microsoft.com/office/drawing/2014/main" id="{9A501C88-1BE0-9B53-8B0A-30E6A89BA7C4}"/>
              </a:ext>
            </a:extLst>
          </p:cNvPr>
          <p:cNvSpPr txBox="1">
            <a:spLocks/>
          </p:cNvSpPr>
          <p:nvPr/>
        </p:nvSpPr>
        <p:spPr>
          <a:xfrm>
            <a:off x="439259" y="939173"/>
            <a:ext cx="11309829" cy="511802"/>
          </a:xfrm>
          <a:prstGeom prst="rect">
            <a:avLst/>
          </a:prstGeom>
        </p:spPr>
        <p:txBody>
          <a:bodyPr lIns="0" tIns="0" rIns="0" bIns="0" anchor="t" anchorCtr="0">
            <a:no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pPr marL="0" marR="0" lvl="0" indent="0" algn="l" defTabSz="742950" rtl="0" eaLnBrk="1" fontAlgn="auto" latinLnBrk="0" hangingPunct="1">
              <a:lnSpc>
                <a:spcPct val="90000"/>
              </a:lnSpc>
              <a:spcBef>
                <a:spcPct val="0"/>
              </a:spcBef>
              <a:spcAft>
                <a:spcPts val="0"/>
              </a:spcAft>
              <a:buClrTx/>
              <a:buSzTx/>
              <a:buFontTx/>
              <a:buNone/>
              <a:tabLst/>
              <a:defRPr/>
            </a:pPr>
            <a:r>
              <a:rPr kumimoji="0" lang="es-ES" sz="2600" b="0" i="0" u="none" strike="noStrike" kern="1200" cap="none" spc="0" normalizeH="0" baseline="0" noProof="0">
                <a:ln>
                  <a:noFill/>
                </a:ln>
                <a:solidFill>
                  <a:srgbClr val="005471"/>
                </a:solidFill>
                <a:effectLst/>
                <a:uLnTx/>
                <a:uFillTx/>
                <a:latin typeface="Santander Headline Light" panose="020B0304020201010104" pitchFamily="34" charset="0"/>
                <a:ea typeface="+mj-ea"/>
              </a:rPr>
              <a:t>Situaciones de riesgo de la información</a:t>
            </a:r>
            <a:endParaRPr kumimoji="0" lang="es-ES"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j-ea"/>
            </a:endParaRPr>
          </a:p>
        </p:txBody>
      </p:sp>
      <p:sp>
        <p:nvSpPr>
          <p:cNvPr id="4" name="Marcador de texto 4">
            <a:extLst>
              <a:ext uri="{FF2B5EF4-FFF2-40B4-BE49-F238E27FC236}">
                <a16:creationId xmlns:a16="http://schemas.microsoft.com/office/drawing/2014/main" id="{73BA8249-BA34-2667-F116-F054B16CFB7C}"/>
              </a:ext>
            </a:extLst>
          </p:cNvPr>
          <p:cNvSpPr txBox="1">
            <a:spLocks/>
          </p:cNvSpPr>
          <p:nvPr/>
        </p:nvSpPr>
        <p:spPr>
          <a:xfrm>
            <a:off x="425241" y="2094336"/>
            <a:ext cx="4174426" cy="2881313"/>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rPr>
              <a:t>La información es uno de los bienes más importantes de SAM. Por tanto, tiene que ser cuidadosamente protegida para que mantenga sus atributos de integridad, confidencialidad y disponibilidad.</a:t>
            </a:r>
            <a:r>
              <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rPr>
              <a:t> </a:t>
            </a:r>
          </a:p>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ES" sz="1200" b="0" i="0" u="none" strike="noStrike" kern="1200" cap="none" spc="0" normalizeH="0" baseline="0" noProof="0" dirty="0">
                <a:ln>
                  <a:noFill/>
                </a:ln>
                <a:solidFill>
                  <a:srgbClr val="000715"/>
                </a:solidFill>
                <a:effectLst/>
                <a:uLnTx/>
                <a:uFillTx/>
                <a:latin typeface="Santander Text Light" panose="020B0304020201020104" pitchFamily="34" charset="0"/>
                <a:ea typeface="+mn-ea"/>
                <a:cs typeface="Arial" panose="020B0604020202020204" pitchFamily="34" charset="0"/>
              </a:rPr>
              <a:t>Para este fin se han emitido Políticas de Ciberseguridad que todos debemos acatar, y en caso de detectar alguna incidencia esto debe ser notificado de inmediato al Responsable de Seguridad de la Información local  (LISO-Riesgos)y al Director ITOP.</a:t>
            </a:r>
          </a:p>
        </p:txBody>
      </p:sp>
      <p:sp>
        <p:nvSpPr>
          <p:cNvPr id="6" name="Marcador de texto 4">
            <a:extLst>
              <a:ext uri="{FF2B5EF4-FFF2-40B4-BE49-F238E27FC236}">
                <a16:creationId xmlns:a16="http://schemas.microsoft.com/office/drawing/2014/main" id="{11930CAE-449E-A95C-CF3E-002CCA6B75A6}"/>
              </a:ext>
            </a:extLst>
          </p:cNvPr>
          <p:cNvSpPr txBox="1">
            <a:spLocks/>
          </p:cNvSpPr>
          <p:nvPr/>
        </p:nvSpPr>
        <p:spPr>
          <a:xfrm>
            <a:off x="417893" y="1708253"/>
            <a:ext cx="4474147" cy="2611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rPr>
              <a:t>Manejo de situaciones de riesgo de la información</a:t>
            </a: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grpSp>
        <p:nvGrpSpPr>
          <p:cNvPr id="7" name="Grupo 6">
            <a:extLst>
              <a:ext uri="{FF2B5EF4-FFF2-40B4-BE49-F238E27FC236}">
                <a16:creationId xmlns:a16="http://schemas.microsoft.com/office/drawing/2014/main" id="{8D63CD20-BDAD-B18C-29E0-0C3F85298C1E}"/>
              </a:ext>
            </a:extLst>
          </p:cNvPr>
          <p:cNvGrpSpPr/>
          <p:nvPr/>
        </p:nvGrpSpPr>
        <p:grpSpPr>
          <a:xfrm>
            <a:off x="5684098" y="1250899"/>
            <a:ext cx="5713137" cy="4786425"/>
            <a:chOff x="5135458" y="1060708"/>
            <a:chExt cx="5713137" cy="4786425"/>
          </a:xfrm>
        </p:grpSpPr>
        <p:grpSp>
          <p:nvGrpSpPr>
            <p:cNvPr id="8" name="Grupo 7">
              <a:extLst>
                <a:ext uri="{FF2B5EF4-FFF2-40B4-BE49-F238E27FC236}">
                  <a16:creationId xmlns:a16="http://schemas.microsoft.com/office/drawing/2014/main" id="{219B8A84-86DD-D5FC-425B-07325B79497C}"/>
                </a:ext>
              </a:extLst>
            </p:cNvPr>
            <p:cNvGrpSpPr/>
            <p:nvPr/>
          </p:nvGrpSpPr>
          <p:grpSpPr>
            <a:xfrm>
              <a:off x="5135458" y="1060708"/>
              <a:ext cx="4838742" cy="4786425"/>
              <a:chOff x="729730" y="1304730"/>
              <a:chExt cx="5433580" cy="5374831"/>
            </a:xfrm>
          </p:grpSpPr>
          <p:sp>
            <p:nvSpPr>
              <p:cNvPr id="23" name="Forma libre: forma 22">
                <a:extLst>
                  <a:ext uri="{FF2B5EF4-FFF2-40B4-BE49-F238E27FC236}">
                    <a16:creationId xmlns:a16="http://schemas.microsoft.com/office/drawing/2014/main" id="{96BCD773-8096-7B6D-D69F-84FBECB813D9}"/>
                  </a:ext>
                </a:extLst>
              </p:cNvPr>
              <p:cNvSpPr/>
              <p:nvPr/>
            </p:nvSpPr>
            <p:spPr>
              <a:xfrm>
                <a:off x="3832885" y="1683911"/>
                <a:ext cx="1546568" cy="2318855"/>
              </a:xfrm>
              <a:custGeom>
                <a:avLst/>
                <a:gdLst>
                  <a:gd name="connsiteX0" fmla="*/ 1546569 w 1546568"/>
                  <a:gd name="connsiteY0" fmla="*/ 1115141 h 2318855"/>
                  <a:gd name="connsiteX1" fmla="*/ 0 w 1546568"/>
                  <a:gd name="connsiteY1" fmla="*/ 2318855 h 2318855"/>
                  <a:gd name="connsiteX2" fmla="*/ 0 w 1546568"/>
                  <a:gd name="connsiteY2" fmla="*/ 0 h 2318855"/>
                  <a:gd name="connsiteX3" fmla="*/ 0 w 1546568"/>
                  <a:gd name="connsiteY3" fmla="*/ 700870 h 2318855"/>
                </a:gdLst>
                <a:ahLst/>
                <a:cxnLst>
                  <a:cxn ang="0">
                    <a:pos x="connsiteX0" y="connsiteY0"/>
                  </a:cxn>
                  <a:cxn ang="0">
                    <a:pos x="connsiteX1" y="connsiteY1"/>
                  </a:cxn>
                  <a:cxn ang="0">
                    <a:pos x="connsiteX2" y="connsiteY2"/>
                  </a:cxn>
                  <a:cxn ang="0">
                    <a:pos x="connsiteX3" y="connsiteY3"/>
                  </a:cxn>
                </a:cxnLst>
                <a:rect l="l" t="t" r="r" b="b"/>
                <a:pathLst>
                  <a:path w="1546568" h="2318855">
                    <a:moveTo>
                      <a:pt x="1546569" y="1115141"/>
                    </a:moveTo>
                    <a:lnTo>
                      <a:pt x="0" y="2318855"/>
                    </a:lnTo>
                    <a:lnTo>
                      <a:pt x="0" y="0"/>
                    </a:lnTo>
                    <a:lnTo>
                      <a:pt x="0" y="700870"/>
                    </a:lnTo>
                  </a:path>
                </a:pathLst>
              </a:custGeom>
              <a:noFill/>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dirty="0">
                  <a:ln>
                    <a:noFill/>
                  </a:ln>
                  <a:solidFill>
                    <a:srgbClr val="000715"/>
                  </a:solidFill>
                  <a:effectLst/>
                  <a:uLnTx/>
                  <a:uFillTx/>
                  <a:latin typeface="Arial"/>
                </a:endParaRPr>
              </a:p>
            </p:txBody>
          </p:sp>
          <p:sp>
            <p:nvSpPr>
              <p:cNvPr id="24" name="Forma libre: forma 23">
                <a:extLst>
                  <a:ext uri="{FF2B5EF4-FFF2-40B4-BE49-F238E27FC236}">
                    <a16:creationId xmlns:a16="http://schemas.microsoft.com/office/drawing/2014/main" id="{A7E3E938-B5AA-0E25-DCDB-96DE19B0C2B1}"/>
                  </a:ext>
                </a:extLst>
              </p:cNvPr>
              <p:cNvSpPr/>
              <p:nvPr/>
            </p:nvSpPr>
            <p:spPr>
              <a:xfrm>
                <a:off x="3757611" y="1765966"/>
                <a:ext cx="155335" cy="155335"/>
              </a:xfrm>
              <a:custGeom>
                <a:avLst/>
                <a:gdLst>
                  <a:gd name="connsiteX0" fmla="*/ 76579 w 155335"/>
                  <a:gd name="connsiteY0" fmla="*/ 155287 h 155335"/>
                  <a:gd name="connsiteX1" fmla="*/ 154248 w 155335"/>
                  <a:gd name="connsiteY1" fmla="*/ 77619 h 155335"/>
                  <a:gd name="connsiteX2" fmla="*/ 76579 w 155335"/>
                  <a:gd name="connsiteY2" fmla="*/ -48 h 155335"/>
                  <a:gd name="connsiteX3" fmla="*/ -1088 w 155335"/>
                  <a:gd name="connsiteY3" fmla="*/ 77619 h 155335"/>
                  <a:gd name="connsiteX4" fmla="*/ -1088 w 155335"/>
                  <a:gd name="connsiteY4" fmla="*/ 77752 h 155335"/>
                  <a:gd name="connsiteX5" fmla="*/ 76447 w 155335"/>
                  <a:gd name="connsiteY5" fmla="*/ 155287 h 155335"/>
                  <a:gd name="connsiteX6" fmla="*/ 76579 w 155335"/>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5" h="155335">
                    <a:moveTo>
                      <a:pt x="76579" y="155287"/>
                    </a:moveTo>
                    <a:cubicBezTo>
                      <a:pt x="119537" y="155287"/>
                      <a:pt x="154248" y="120513"/>
                      <a:pt x="154248" y="77619"/>
                    </a:cubicBezTo>
                    <a:cubicBezTo>
                      <a:pt x="154248" y="34725"/>
                      <a:pt x="119537" y="-48"/>
                      <a:pt x="76579" y="-48"/>
                    </a:cubicBezTo>
                    <a:cubicBezTo>
                      <a:pt x="33623" y="-48"/>
                      <a:pt x="-1088" y="34725"/>
                      <a:pt x="-1088" y="77619"/>
                    </a:cubicBezTo>
                    <a:cubicBezTo>
                      <a:pt x="-1088" y="77663"/>
                      <a:pt x="-1088" y="77708"/>
                      <a:pt x="-1088" y="77752"/>
                    </a:cubicBezTo>
                    <a:cubicBezTo>
                      <a:pt x="-1088" y="120573"/>
                      <a:pt x="33623" y="155287"/>
                      <a:pt x="76447" y="155287"/>
                    </a:cubicBezTo>
                    <a:cubicBezTo>
                      <a:pt x="76447" y="155287"/>
                      <a:pt x="76579" y="155287"/>
                      <a:pt x="76579" y="155287"/>
                    </a:cubicBezTo>
                    <a:close/>
                  </a:path>
                </a:pathLst>
              </a:custGeom>
              <a:noFill/>
              <a:ln w="664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25" name="Forma libre: forma 24">
                <a:extLst>
                  <a:ext uri="{FF2B5EF4-FFF2-40B4-BE49-F238E27FC236}">
                    <a16:creationId xmlns:a16="http://schemas.microsoft.com/office/drawing/2014/main" id="{336B982C-615A-19DC-E257-8F2B869D02A9}"/>
                  </a:ext>
                </a:extLst>
              </p:cNvPr>
              <p:cNvSpPr/>
              <p:nvPr/>
            </p:nvSpPr>
            <p:spPr>
              <a:xfrm>
                <a:off x="3819453" y="166768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6"/>
                      <a:pt x="25510" y="13251"/>
                    </a:cubicBezTo>
                    <a:cubicBezTo>
                      <a:pt x="25510" y="5906"/>
                      <a:pt x="19526" y="-48"/>
                      <a:pt x="12211" y="-48"/>
                    </a:cubicBezTo>
                    <a:cubicBezTo>
                      <a:pt x="4896" y="-48"/>
                      <a:pt x="-1088" y="5906"/>
                      <a:pt x="-1088" y="13251"/>
                    </a:cubicBezTo>
                    <a:cubicBezTo>
                      <a:pt x="-1088" y="20596"/>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26" name="Forma libre: forma 25">
                <a:extLst>
                  <a:ext uri="{FF2B5EF4-FFF2-40B4-BE49-F238E27FC236}">
                    <a16:creationId xmlns:a16="http://schemas.microsoft.com/office/drawing/2014/main" id="{A1C62CE5-EB56-5405-3910-919876B9FD6A}"/>
                  </a:ext>
                </a:extLst>
              </p:cNvPr>
              <p:cNvSpPr/>
              <p:nvPr/>
            </p:nvSpPr>
            <p:spPr>
              <a:xfrm>
                <a:off x="1959821"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27" name="Forma libre: forma 26">
                <a:extLst>
                  <a:ext uri="{FF2B5EF4-FFF2-40B4-BE49-F238E27FC236}">
                    <a16:creationId xmlns:a16="http://schemas.microsoft.com/office/drawing/2014/main" id="{091FC760-F9BD-F432-D291-3FA2B233EA5B}"/>
                  </a:ext>
                </a:extLst>
              </p:cNvPr>
              <p:cNvSpPr/>
              <p:nvPr/>
            </p:nvSpPr>
            <p:spPr>
              <a:xfrm>
                <a:off x="1501809" y="4506673"/>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28" name="Forma libre: forma 27">
                <a:extLst>
                  <a:ext uri="{FF2B5EF4-FFF2-40B4-BE49-F238E27FC236}">
                    <a16:creationId xmlns:a16="http://schemas.microsoft.com/office/drawing/2014/main" id="{2E1B26F1-9C1C-3927-B6B5-4179DC5CF929}"/>
                  </a:ext>
                </a:extLst>
              </p:cNvPr>
              <p:cNvSpPr/>
              <p:nvPr/>
            </p:nvSpPr>
            <p:spPr>
              <a:xfrm>
                <a:off x="2788243" y="608223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29" name="Forma libre: forma 28">
                <a:extLst>
                  <a:ext uri="{FF2B5EF4-FFF2-40B4-BE49-F238E27FC236}">
                    <a16:creationId xmlns:a16="http://schemas.microsoft.com/office/drawing/2014/main" id="{BAECD410-4F6B-14DB-2A90-2B6C9A7A932A}"/>
                  </a:ext>
                </a:extLst>
              </p:cNvPr>
              <p:cNvSpPr/>
              <p:nvPr/>
            </p:nvSpPr>
            <p:spPr>
              <a:xfrm>
                <a:off x="4853469" y="6085426"/>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0" name="Forma libre: forma 29">
                <a:extLst>
                  <a:ext uri="{FF2B5EF4-FFF2-40B4-BE49-F238E27FC236}">
                    <a16:creationId xmlns:a16="http://schemas.microsoft.com/office/drawing/2014/main" id="{D0A3CE1E-5430-A9F9-4661-9CA43540C29C}"/>
                  </a:ext>
                </a:extLst>
              </p:cNvPr>
              <p:cNvSpPr/>
              <p:nvPr/>
            </p:nvSpPr>
            <p:spPr>
              <a:xfrm>
                <a:off x="6136712" y="4509865"/>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1" name="Forma libre: forma 30">
                <a:extLst>
                  <a:ext uri="{FF2B5EF4-FFF2-40B4-BE49-F238E27FC236}">
                    <a16:creationId xmlns:a16="http://schemas.microsoft.com/office/drawing/2014/main" id="{44D045C7-EAA3-2DFF-5EBD-C68739549539}"/>
                  </a:ext>
                </a:extLst>
              </p:cNvPr>
              <p:cNvSpPr/>
              <p:nvPr/>
            </p:nvSpPr>
            <p:spPr>
              <a:xfrm>
                <a:off x="5678554"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2" name="Forma libre: forma 31">
                <a:extLst>
                  <a:ext uri="{FF2B5EF4-FFF2-40B4-BE49-F238E27FC236}">
                    <a16:creationId xmlns:a16="http://schemas.microsoft.com/office/drawing/2014/main" id="{AABFE86F-3402-2510-1918-744047B0B681}"/>
                  </a:ext>
                </a:extLst>
              </p:cNvPr>
              <p:cNvSpPr/>
              <p:nvPr/>
            </p:nvSpPr>
            <p:spPr>
              <a:xfrm>
                <a:off x="3692494" y="2314027"/>
                <a:ext cx="314657" cy="306289"/>
              </a:xfrm>
              <a:custGeom>
                <a:avLst/>
                <a:gdLst>
                  <a:gd name="connsiteX0" fmla="*/ 29185 w 314657"/>
                  <a:gd name="connsiteY0" fmla="*/ 56075 h 306289"/>
                  <a:gd name="connsiteX1" fmla="*/ 63365 w 314657"/>
                  <a:gd name="connsiteY1" fmla="*/ 275924 h 306289"/>
                  <a:gd name="connsiteX2" fmla="*/ 283200 w 314657"/>
                  <a:gd name="connsiteY2" fmla="*/ 241732 h 306289"/>
                  <a:gd name="connsiteX3" fmla="*/ 249022 w 314657"/>
                  <a:gd name="connsiteY3" fmla="*/ 21880 h 306289"/>
                  <a:gd name="connsiteX4" fmla="*/ 206863 w 314657"/>
                  <a:gd name="connsiteY4" fmla="*/ -48 h 3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57" h="306289">
                    <a:moveTo>
                      <a:pt x="29185" y="56075"/>
                    </a:moveTo>
                    <a:cubicBezTo>
                      <a:pt x="-22017" y="126228"/>
                      <a:pt x="-6722" y="224656"/>
                      <a:pt x="63365" y="275924"/>
                    </a:cubicBezTo>
                    <a:cubicBezTo>
                      <a:pt x="133584" y="327193"/>
                      <a:pt x="231998" y="311885"/>
                      <a:pt x="283200" y="241732"/>
                    </a:cubicBezTo>
                    <a:cubicBezTo>
                      <a:pt x="334535" y="171578"/>
                      <a:pt x="319242" y="73151"/>
                      <a:pt x="249022" y="21880"/>
                    </a:cubicBezTo>
                    <a:cubicBezTo>
                      <a:pt x="236122" y="12477"/>
                      <a:pt x="221891" y="5083"/>
                      <a:pt x="206863" y="-48"/>
                    </a:cubicBezTo>
                  </a:path>
                </a:pathLst>
              </a:custGeom>
              <a:noFill/>
              <a:ln w="10638"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3" name="Forma libre: forma 32">
                <a:extLst>
                  <a:ext uri="{FF2B5EF4-FFF2-40B4-BE49-F238E27FC236}">
                    <a16:creationId xmlns:a16="http://schemas.microsoft.com/office/drawing/2014/main" id="{1829189B-243B-FFDA-9C90-8F4AC31F248E}"/>
                  </a:ext>
                </a:extLst>
              </p:cNvPr>
              <p:cNvSpPr/>
              <p:nvPr/>
            </p:nvSpPr>
            <p:spPr>
              <a:xfrm>
                <a:off x="3655074" y="2277854"/>
                <a:ext cx="389401" cy="370383"/>
              </a:xfrm>
              <a:custGeom>
                <a:avLst/>
                <a:gdLst>
                  <a:gd name="connsiteX0" fmla="*/ 254946 w 389401"/>
                  <a:gd name="connsiteY0" fmla="*/ 0 h 370383"/>
                  <a:gd name="connsiteX1" fmla="*/ 194701 w 389401"/>
                  <a:gd name="connsiteY1" fmla="*/ 185258 h 370383"/>
                  <a:gd name="connsiteX2" fmla="*/ 134588 w 389401"/>
                  <a:gd name="connsiteY2" fmla="*/ 0 h 370383"/>
                  <a:gd name="connsiteX3" fmla="*/ 194701 w 389401"/>
                  <a:gd name="connsiteY3" fmla="*/ 185258 h 370383"/>
                  <a:gd name="connsiteX4" fmla="*/ 37238 w 389401"/>
                  <a:gd name="connsiteY4" fmla="*/ 70752 h 370383"/>
                  <a:gd name="connsiteX5" fmla="*/ 194701 w 389401"/>
                  <a:gd name="connsiteY5" fmla="*/ 185258 h 370383"/>
                  <a:gd name="connsiteX6" fmla="*/ 0 w 389401"/>
                  <a:gd name="connsiteY6" fmla="*/ 185258 h 370383"/>
                  <a:gd name="connsiteX7" fmla="*/ 194701 w 389401"/>
                  <a:gd name="connsiteY7" fmla="*/ 185258 h 370383"/>
                  <a:gd name="connsiteX8" fmla="*/ 37238 w 389401"/>
                  <a:gd name="connsiteY8" fmla="*/ 299632 h 370383"/>
                  <a:gd name="connsiteX9" fmla="*/ 194701 w 389401"/>
                  <a:gd name="connsiteY9" fmla="*/ 185258 h 370383"/>
                  <a:gd name="connsiteX10" fmla="*/ 134588 w 389401"/>
                  <a:gd name="connsiteY10" fmla="*/ 370384 h 370383"/>
                  <a:gd name="connsiteX11" fmla="*/ 194701 w 389401"/>
                  <a:gd name="connsiteY11" fmla="*/ 185258 h 370383"/>
                  <a:gd name="connsiteX12" fmla="*/ 254946 w 389401"/>
                  <a:gd name="connsiteY12" fmla="*/ 370384 h 370383"/>
                  <a:gd name="connsiteX13" fmla="*/ 194701 w 389401"/>
                  <a:gd name="connsiteY13" fmla="*/ 185258 h 370383"/>
                  <a:gd name="connsiteX14" fmla="*/ 352297 w 389401"/>
                  <a:gd name="connsiteY14" fmla="*/ 299632 h 370383"/>
                  <a:gd name="connsiteX15" fmla="*/ 194701 w 389401"/>
                  <a:gd name="connsiteY15" fmla="*/ 185258 h 370383"/>
                  <a:gd name="connsiteX16" fmla="*/ 389402 w 389401"/>
                  <a:gd name="connsiteY16" fmla="*/ 185258 h 370383"/>
                  <a:gd name="connsiteX17" fmla="*/ 194701 w 389401"/>
                  <a:gd name="connsiteY17" fmla="*/ 185258 h 370383"/>
                  <a:gd name="connsiteX18" fmla="*/ 352297 w 389401"/>
                  <a:gd name="connsiteY18" fmla="*/ 70752 h 370383"/>
                  <a:gd name="connsiteX19" fmla="*/ 194701 w 389401"/>
                  <a:gd name="connsiteY19" fmla="*/ 185258 h 370383"/>
                  <a:gd name="connsiteX20" fmla="*/ 254946 w 389401"/>
                  <a:gd name="connsiteY20" fmla="*/ 0 h 37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9401" h="370383">
                    <a:moveTo>
                      <a:pt x="254946" y="0"/>
                    </a:moveTo>
                    <a:lnTo>
                      <a:pt x="194701" y="185258"/>
                    </a:lnTo>
                    <a:lnTo>
                      <a:pt x="134588" y="0"/>
                    </a:lnTo>
                    <a:lnTo>
                      <a:pt x="194701" y="185258"/>
                    </a:lnTo>
                    <a:lnTo>
                      <a:pt x="37238" y="70752"/>
                    </a:lnTo>
                    <a:lnTo>
                      <a:pt x="194701" y="185258"/>
                    </a:lnTo>
                    <a:lnTo>
                      <a:pt x="0" y="185258"/>
                    </a:lnTo>
                    <a:lnTo>
                      <a:pt x="194701" y="185258"/>
                    </a:lnTo>
                    <a:lnTo>
                      <a:pt x="37238" y="299632"/>
                    </a:lnTo>
                    <a:lnTo>
                      <a:pt x="194701" y="185258"/>
                    </a:lnTo>
                    <a:lnTo>
                      <a:pt x="134588" y="370384"/>
                    </a:lnTo>
                    <a:lnTo>
                      <a:pt x="194701" y="185258"/>
                    </a:lnTo>
                    <a:lnTo>
                      <a:pt x="254946" y="370384"/>
                    </a:lnTo>
                    <a:lnTo>
                      <a:pt x="194701" y="185258"/>
                    </a:lnTo>
                    <a:lnTo>
                      <a:pt x="352297" y="299632"/>
                    </a:lnTo>
                    <a:lnTo>
                      <a:pt x="194701" y="185258"/>
                    </a:lnTo>
                    <a:lnTo>
                      <a:pt x="389402" y="185258"/>
                    </a:lnTo>
                    <a:lnTo>
                      <a:pt x="194701" y="185258"/>
                    </a:lnTo>
                    <a:lnTo>
                      <a:pt x="352297" y="70752"/>
                    </a:lnTo>
                    <a:lnTo>
                      <a:pt x="194701" y="185258"/>
                    </a:lnTo>
                    <a:lnTo>
                      <a:pt x="254946" y="0"/>
                    </a:lnTo>
                    <a:close/>
                  </a:path>
                </a:pathLst>
              </a:custGeom>
              <a:noFill/>
              <a:ln w="3989" cap="flat">
                <a:solidFill>
                  <a:srgbClr val="00AFAA"/>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4" name="Forma libre: forma 33">
                <a:extLst>
                  <a:ext uri="{FF2B5EF4-FFF2-40B4-BE49-F238E27FC236}">
                    <a16:creationId xmlns:a16="http://schemas.microsoft.com/office/drawing/2014/main" id="{9DE4DEEC-1163-D83C-7768-973C491EFFD5}"/>
                  </a:ext>
                </a:extLst>
              </p:cNvPr>
              <p:cNvSpPr/>
              <p:nvPr/>
            </p:nvSpPr>
            <p:spPr>
              <a:xfrm>
                <a:off x="3645897" y="2254314"/>
                <a:ext cx="407755" cy="407754"/>
              </a:xfrm>
              <a:custGeom>
                <a:avLst/>
                <a:gdLst>
                  <a:gd name="connsiteX0" fmla="*/ 202790 w 407755"/>
                  <a:gd name="connsiteY0" fmla="*/ 407706 h 407754"/>
                  <a:gd name="connsiteX1" fmla="*/ 406667 w 407755"/>
                  <a:gd name="connsiteY1" fmla="*/ 203829 h 407754"/>
                  <a:gd name="connsiteX2" fmla="*/ 202790 w 407755"/>
                  <a:gd name="connsiteY2" fmla="*/ -48 h 407754"/>
                  <a:gd name="connsiteX3" fmla="*/ -1088 w 407755"/>
                  <a:gd name="connsiteY3" fmla="*/ 203829 h 407754"/>
                  <a:gd name="connsiteX4" fmla="*/ 202790 w 407755"/>
                  <a:gd name="connsiteY4" fmla="*/ 407706 h 407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55" h="407754">
                    <a:moveTo>
                      <a:pt x="202790" y="407706"/>
                    </a:moveTo>
                    <a:cubicBezTo>
                      <a:pt x="315434" y="407706"/>
                      <a:pt x="406667" y="316434"/>
                      <a:pt x="406667" y="203829"/>
                    </a:cubicBezTo>
                    <a:cubicBezTo>
                      <a:pt x="406667" y="91231"/>
                      <a:pt x="315434" y="-48"/>
                      <a:pt x="202790" y="-48"/>
                    </a:cubicBezTo>
                    <a:cubicBezTo>
                      <a:pt x="90144" y="-48"/>
                      <a:pt x="-1088" y="91231"/>
                      <a:pt x="-1088" y="203829"/>
                    </a:cubicBezTo>
                    <a:cubicBezTo>
                      <a:pt x="-1088" y="316434"/>
                      <a:pt x="90144" y="407706"/>
                      <a:pt x="202790" y="407706"/>
                    </a:cubicBezTo>
                  </a:path>
                </a:pathLst>
              </a:custGeom>
              <a:solidFill>
                <a:srgbClr val="FFFFFF"/>
              </a:solidFill>
              <a:ln w="1329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5" name="Forma libre: forma 34">
                <a:extLst>
                  <a:ext uri="{FF2B5EF4-FFF2-40B4-BE49-F238E27FC236}">
                    <a16:creationId xmlns:a16="http://schemas.microsoft.com/office/drawing/2014/main" id="{CD83530C-5FC6-4C3B-97C1-2D86D6D5C0E4}"/>
                  </a:ext>
                </a:extLst>
              </p:cNvPr>
              <p:cNvSpPr/>
              <p:nvPr/>
            </p:nvSpPr>
            <p:spPr>
              <a:xfrm>
                <a:off x="3832885" y="2797322"/>
                <a:ext cx="1819868" cy="1610803"/>
              </a:xfrm>
              <a:custGeom>
                <a:avLst/>
                <a:gdLst>
                  <a:gd name="connsiteX0" fmla="*/ 1819868 w 1819868"/>
                  <a:gd name="connsiteY0" fmla="*/ 1610804 h 1610803"/>
                  <a:gd name="connsiteX1" fmla="*/ 0 w 1819868"/>
                  <a:gd name="connsiteY1" fmla="*/ 1205443 h 1610803"/>
                  <a:gd name="connsiteX2" fmla="*/ 1548696 w 1819868"/>
                  <a:gd name="connsiteY2" fmla="*/ 0 h 1610803"/>
                </a:gdLst>
                <a:ahLst/>
                <a:cxnLst>
                  <a:cxn ang="0">
                    <a:pos x="connsiteX0" y="connsiteY0"/>
                  </a:cxn>
                  <a:cxn ang="0">
                    <a:pos x="connsiteX1" y="connsiteY1"/>
                  </a:cxn>
                  <a:cxn ang="0">
                    <a:pos x="connsiteX2" y="connsiteY2"/>
                  </a:cxn>
                </a:cxnLst>
                <a:rect l="l" t="t" r="r" b="b"/>
                <a:pathLst>
                  <a:path w="1819868" h="1610803">
                    <a:moveTo>
                      <a:pt x="1819868" y="1610804"/>
                    </a:moveTo>
                    <a:lnTo>
                      <a:pt x="0" y="1205443"/>
                    </a:lnTo>
                    <a:lnTo>
                      <a:pt x="1548696" y="0"/>
                    </a:lnTo>
                  </a:path>
                </a:pathLst>
              </a:custGeom>
              <a:noFill/>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6" name="Forma libre: forma 35">
                <a:extLst>
                  <a:ext uri="{FF2B5EF4-FFF2-40B4-BE49-F238E27FC236}">
                    <a16:creationId xmlns:a16="http://schemas.microsoft.com/office/drawing/2014/main" id="{B30A46AC-2DBB-2B1F-4400-74668410AB36}"/>
                  </a:ext>
                </a:extLst>
              </p:cNvPr>
              <p:cNvSpPr/>
              <p:nvPr/>
            </p:nvSpPr>
            <p:spPr>
              <a:xfrm>
                <a:off x="3832885" y="4002765"/>
                <a:ext cx="791437" cy="1604021"/>
              </a:xfrm>
              <a:custGeom>
                <a:avLst/>
                <a:gdLst>
                  <a:gd name="connsiteX0" fmla="*/ 791438 w 791437"/>
                  <a:gd name="connsiteY0" fmla="*/ 1604021 h 1604021"/>
                  <a:gd name="connsiteX1" fmla="*/ 0 w 791437"/>
                  <a:gd name="connsiteY1" fmla="*/ 0 h 1604021"/>
                </a:gdLst>
                <a:ahLst/>
                <a:cxnLst>
                  <a:cxn ang="0">
                    <a:pos x="connsiteX0" y="connsiteY0"/>
                  </a:cxn>
                  <a:cxn ang="0">
                    <a:pos x="connsiteX1" y="connsiteY1"/>
                  </a:cxn>
                </a:cxnLst>
                <a:rect l="l" t="t" r="r" b="b"/>
                <a:pathLst>
                  <a:path w="791437" h="1604021">
                    <a:moveTo>
                      <a:pt x="791438" y="1604021"/>
                    </a:moveTo>
                    <a:lnTo>
                      <a:pt x="0" y="0"/>
                    </a:lnTo>
                  </a:path>
                </a:pathLst>
              </a:custGeom>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7" name="Forma libre: forma 36">
                <a:extLst>
                  <a:ext uri="{FF2B5EF4-FFF2-40B4-BE49-F238E27FC236}">
                    <a16:creationId xmlns:a16="http://schemas.microsoft.com/office/drawing/2014/main" id="{32224F8A-C05D-B414-8ADB-F0A09200611B}"/>
                  </a:ext>
                </a:extLst>
              </p:cNvPr>
              <p:cNvSpPr/>
              <p:nvPr/>
            </p:nvSpPr>
            <p:spPr>
              <a:xfrm>
                <a:off x="2015012" y="4002765"/>
                <a:ext cx="1817872" cy="1600696"/>
              </a:xfrm>
              <a:custGeom>
                <a:avLst/>
                <a:gdLst>
                  <a:gd name="connsiteX0" fmla="*/ 0 w 1817872"/>
                  <a:gd name="connsiteY0" fmla="*/ 404962 h 1600696"/>
                  <a:gd name="connsiteX1" fmla="*/ 1817873 w 1817872"/>
                  <a:gd name="connsiteY1" fmla="*/ 0 h 1600696"/>
                  <a:gd name="connsiteX2" fmla="*/ 1027898 w 1817872"/>
                  <a:gd name="connsiteY2" fmla="*/ 1600697 h 1600696"/>
                </a:gdLst>
                <a:ahLst/>
                <a:cxnLst>
                  <a:cxn ang="0">
                    <a:pos x="connsiteX0" y="connsiteY0"/>
                  </a:cxn>
                  <a:cxn ang="0">
                    <a:pos x="connsiteX1" y="connsiteY1"/>
                  </a:cxn>
                  <a:cxn ang="0">
                    <a:pos x="connsiteX2" y="connsiteY2"/>
                  </a:cxn>
                </a:cxnLst>
                <a:rect l="l" t="t" r="r" b="b"/>
                <a:pathLst>
                  <a:path w="1817872" h="1600696">
                    <a:moveTo>
                      <a:pt x="0" y="404962"/>
                    </a:moveTo>
                    <a:lnTo>
                      <a:pt x="1817873" y="0"/>
                    </a:lnTo>
                    <a:lnTo>
                      <a:pt x="1027898" y="1600697"/>
                    </a:lnTo>
                  </a:path>
                </a:pathLst>
              </a:custGeom>
              <a:noFill/>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8" name="Forma libre: forma 37">
                <a:extLst>
                  <a:ext uri="{FF2B5EF4-FFF2-40B4-BE49-F238E27FC236}">
                    <a16:creationId xmlns:a16="http://schemas.microsoft.com/office/drawing/2014/main" id="{EDDBBA62-A20E-86E6-BE7B-184F1182B9CA}"/>
                  </a:ext>
                </a:extLst>
              </p:cNvPr>
              <p:cNvSpPr/>
              <p:nvPr/>
            </p:nvSpPr>
            <p:spPr>
              <a:xfrm>
                <a:off x="2016741" y="2796258"/>
                <a:ext cx="1816011" cy="1611069"/>
              </a:xfrm>
              <a:custGeom>
                <a:avLst/>
                <a:gdLst>
                  <a:gd name="connsiteX0" fmla="*/ 265852 w 1816011"/>
                  <a:gd name="connsiteY0" fmla="*/ 0 h 1611069"/>
                  <a:gd name="connsiteX1" fmla="*/ 1816011 w 1816011"/>
                  <a:gd name="connsiteY1" fmla="*/ 1206507 h 1611069"/>
                  <a:gd name="connsiteX2" fmla="*/ 0 w 1816011"/>
                  <a:gd name="connsiteY2" fmla="*/ 1611070 h 1611069"/>
                </a:gdLst>
                <a:ahLst/>
                <a:cxnLst>
                  <a:cxn ang="0">
                    <a:pos x="connsiteX0" y="connsiteY0"/>
                  </a:cxn>
                  <a:cxn ang="0">
                    <a:pos x="connsiteX1" y="connsiteY1"/>
                  </a:cxn>
                  <a:cxn ang="0">
                    <a:pos x="connsiteX2" y="connsiteY2"/>
                  </a:cxn>
                </a:cxnLst>
                <a:rect l="l" t="t" r="r" b="b"/>
                <a:pathLst>
                  <a:path w="1816011" h="1611069">
                    <a:moveTo>
                      <a:pt x="265852" y="0"/>
                    </a:moveTo>
                    <a:lnTo>
                      <a:pt x="1816011" y="1206507"/>
                    </a:lnTo>
                    <a:lnTo>
                      <a:pt x="0" y="1611070"/>
                    </a:lnTo>
                  </a:path>
                </a:pathLst>
              </a:custGeom>
              <a:noFill/>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39" name="Forma libre: forma 38">
                <a:extLst>
                  <a:ext uri="{FF2B5EF4-FFF2-40B4-BE49-F238E27FC236}">
                    <a16:creationId xmlns:a16="http://schemas.microsoft.com/office/drawing/2014/main" id="{C7811C69-4D8F-C188-1621-498305239FDE}"/>
                  </a:ext>
                </a:extLst>
              </p:cNvPr>
              <p:cNvSpPr/>
              <p:nvPr/>
            </p:nvSpPr>
            <p:spPr>
              <a:xfrm>
                <a:off x="1516290" y="4407328"/>
                <a:ext cx="500450" cy="111447"/>
              </a:xfrm>
              <a:custGeom>
                <a:avLst/>
                <a:gdLst>
                  <a:gd name="connsiteX0" fmla="*/ 500450 w 500450"/>
                  <a:gd name="connsiteY0" fmla="*/ 0 h 111447"/>
                  <a:gd name="connsiteX1" fmla="*/ 0 w 500450"/>
                  <a:gd name="connsiteY1" fmla="*/ 111448 h 111447"/>
                </a:gdLst>
                <a:ahLst/>
                <a:cxnLst>
                  <a:cxn ang="0">
                    <a:pos x="connsiteX0" y="connsiteY0"/>
                  </a:cxn>
                  <a:cxn ang="0">
                    <a:pos x="connsiteX1" y="connsiteY1"/>
                  </a:cxn>
                </a:cxnLst>
                <a:rect l="l" t="t" r="r" b="b"/>
                <a:pathLst>
                  <a:path w="500450" h="111447">
                    <a:moveTo>
                      <a:pt x="500450" y="0"/>
                    </a:moveTo>
                    <a:lnTo>
                      <a:pt x="0" y="111448"/>
                    </a:lnTo>
                  </a:path>
                </a:pathLst>
              </a:custGeom>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0" name="Forma libre: forma 39">
                <a:extLst>
                  <a:ext uri="{FF2B5EF4-FFF2-40B4-BE49-F238E27FC236}">
                    <a16:creationId xmlns:a16="http://schemas.microsoft.com/office/drawing/2014/main" id="{C1E82E7C-3B00-7999-C789-27B5F59BA7EC}"/>
                  </a:ext>
                </a:extLst>
              </p:cNvPr>
              <p:cNvSpPr/>
              <p:nvPr/>
            </p:nvSpPr>
            <p:spPr>
              <a:xfrm>
                <a:off x="2801928" y="5603461"/>
                <a:ext cx="240982" cy="488614"/>
              </a:xfrm>
              <a:custGeom>
                <a:avLst/>
                <a:gdLst>
                  <a:gd name="connsiteX0" fmla="*/ 240982 w 240982"/>
                  <a:gd name="connsiteY0" fmla="*/ 0 h 488614"/>
                  <a:gd name="connsiteX1" fmla="*/ 0 w 240982"/>
                  <a:gd name="connsiteY1" fmla="*/ 488614 h 488614"/>
                </a:gdLst>
                <a:ahLst/>
                <a:cxnLst>
                  <a:cxn ang="0">
                    <a:pos x="connsiteX0" y="connsiteY0"/>
                  </a:cxn>
                  <a:cxn ang="0">
                    <a:pos x="connsiteX1" y="connsiteY1"/>
                  </a:cxn>
                </a:cxnLst>
                <a:rect l="l" t="t" r="r" b="b"/>
                <a:pathLst>
                  <a:path w="240982" h="488614">
                    <a:moveTo>
                      <a:pt x="240982" y="0"/>
                    </a:moveTo>
                    <a:lnTo>
                      <a:pt x="0" y="488614"/>
                    </a:lnTo>
                  </a:path>
                </a:pathLst>
              </a:custGeom>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1" name="Forma libre: forma 40">
                <a:extLst>
                  <a:ext uri="{FF2B5EF4-FFF2-40B4-BE49-F238E27FC236}">
                    <a16:creationId xmlns:a16="http://schemas.microsoft.com/office/drawing/2014/main" id="{B875A055-8156-D811-05F8-E2E14940A0A6}"/>
                  </a:ext>
                </a:extLst>
              </p:cNvPr>
              <p:cNvSpPr/>
              <p:nvPr/>
            </p:nvSpPr>
            <p:spPr>
              <a:xfrm>
                <a:off x="5381581" y="2557005"/>
                <a:ext cx="308941" cy="240317"/>
              </a:xfrm>
              <a:custGeom>
                <a:avLst/>
                <a:gdLst>
                  <a:gd name="connsiteX0" fmla="*/ 0 w 308941"/>
                  <a:gd name="connsiteY0" fmla="*/ 240317 h 240317"/>
                  <a:gd name="connsiteX1" fmla="*/ 308941 w 308941"/>
                  <a:gd name="connsiteY1" fmla="*/ 0 h 240317"/>
                </a:gdLst>
                <a:ahLst/>
                <a:cxnLst>
                  <a:cxn ang="0">
                    <a:pos x="connsiteX0" y="connsiteY0"/>
                  </a:cxn>
                  <a:cxn ang="0">
                    <a:pos x="connsiteX1" y="connsiteY1"/>
                  </a:cxn>
                </a:cxnLst>
                <a:rect l="l" t="t" r="r" b="b"/>
                <a:pathLst>
                  <a:path w="308941" h="240317">
                    <a:moveTo>
                      <a:pt x="0" y="240317"/>
                    </a:moveTo>
                    <a:lnTo>
                      <a:pt x="308941" y="0"/>
                    </a:lnTo>
                  </a:path>
                </a:pathLst>
              </a:custGeom>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2" name="Forma libre: forma 41">
                <a:extLst>
                  <a:ext uri="{FF2B5EF4-FFF2-40B4-BE49-F238E27FC236}">
                    <a16:creationId xmlns:a16="http://schemas.microsoft.com/office/drawing/2014/main" id="{44E50BBB-4685-17C9-F4F5-E23F0C6455CF}"/>
                  </a:ext>
                </a:extLst>
              </p:cNvPr>
              <p:cNvSpPr/>
              <p:nvPr/>
            </p:nvSpPr>
            <p:spPr>
              <a:xfrm>
                <a:off x="3832885" y="2197659"/>
                <a:ext cx="13299" cy="1805105"/>
              </a:xfrm>
              <a:custGeom>
                <a:avLst/>
                <a:gdLst>
                  <a:gd name="connsiteX0" fmla="*/ 0 w 13299"/>
                  <a:gd name="connsiteY0" fmla="*/ 0 h 1805105"/>
                  <a:gd name="connsiteX1" fmla="*/ 0 w 13299"/>
                  <a:gd name="connsiteY1" fmla="*/ 1805106 h 1805105"/>
                </a:gdLst>
                <a:ahLst/>
                <a:cxnLst>
                  <a:cxn ang="0">
                    <a:pos x="connsiteX0" y="connsiteY0"/>
                  </a:cxn>
                  <a:cxn ang="0">
                    <a:pos x="connsiteX1" y="connsiteY1"/>
                  </a:cxn>
                </a:cxnLst>
                <a:rect l="l" t="t" r="r" b="b"/>
                <a:pathLst>
                  <a:path w="13299" h="1805105">
                    <a:moveTo>
                      <a:pt x="0" y="0"/>
                    </a:moveTo>
                    <a:lnTo>
                      <a:pt x="0" y="1805106"/>
                    </a:lnTo>
                  </a:path>
                </a:pathLst>
              </a:custGeom>
              <a:ln w="6649" cap="flat">
                <a:solidFill>
                  <a:srgbClr val="EC0000"/>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3" name="Forma libre: forma 42">
                <a:extLst>
                  <a:ext uri="{FF2B5EF4-FFF2-40B4-BE49-F238E27FC236}">
                    <a16:creationId xmlns:a16="http://schemas.microsoft.com/office/drawing/2014/main" id="{DE1671E9-8271-07E0-A52C-434AD799ED98}"/>
                  </a:ext>
                </a:extLst>
              </p:cNvPr>
              <p:cNvSpPr/>
              <p:nvPr/>
            </p:nvSpPr>
            <p:spPr>
              <a:xfrm>
                <a:off x="1975114" y="2557005"/>
                <a:ext cx="314261" cy="244439"/>
              </a:xfrm>
              <a:custGeom>
                <a:avLst/>
                <a:gdLst>
                  <a:gd name="connsiteX0" fmla="*/ 314261 w 314261"/>
                  <a:gd name="connsiteY0" fmla="*/ 244440 h 244439"/>
                  <a:gd name="connsiteX1" fmla="*/ 0 w 314261"/>
                  <a:gd name="connsiteY1" fmla="*/ 0 h 244439"/>
                  <a:gd name="connsiteX2" fmla="*/ 307478 w 314261"/>
                  <a:gd name="connsiteY2" fmla="*/ 239253 h 244439"/>
                </a:gdLst>
                <a:ahLst/>
                <a:cxnLst>
                  <a:cxn ang="0">
                    <a:pos x="connsiteX0" y="connsiteY0"/>
                  </a:cxn>
                  <a:cxn ang="0">
                    <a:pos x="connsiteX1" y="connsiteY1"/>
                  </a:cxn>
                  <a:cxn ang="0">
                    <a:pos x="connsiteX2" y="connsiteY2"/>
                  </a:cxn>
                </a:cxnLst>
                <a:rect l="l" t="t" r="r" b="b"/>
                <a:pathLst>
                  <a:path w="314261" h="244439">
                    <a:moveTo>
                      <a:pt x="314261" y="244440"/>
                    </a:moveTo>
                    <a:lnTo>
                      <a:pt x="0" y="0"/>
                    </a:lnTo>
                    <a:lnTo>
                      <a:pt x="307478" y="239253"/>
                    </a:lnTo>
                  </a:path>
                </a:pathLst>
              </a:custGeom>
              <a:noFill/>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4" name="Forma libre: forma 43">
                <a:extLst>
                  <a:ext uri="{FF2B5EF4-FFF2-40B4-BE49-F238E27FC236}">
                    <a16:creationId xmlns:a16="http://schemas.microsoft.com/office/drawing/2014/main" id="{5055104B-6DD9-3864-06C1-04C809F50C21}"/>
                  </a:ext>
                </a:extLst>
              </p:cNvPr>
              <p:cNvSpPr/>
              <p:nvPr/>
            </p:nvSpPr>
            <p:spPr>
              <a:xfrm>
                <a:off x="4624190" y="5606520"/>
                <a:ext cx="239519" cy="485555"/>
              </a:xfrm>
              <a:custGeom>
                <a:avLst/>
                <a:gdLst>
                  <a:gd name="connsiteX0" fmla="*/ 0 w 239519"/>
                  <a:gd name="connsiteY0" fmla="*/ 0 h 485555"/>
                  <a:gd name="connsiteX1" fmla="*/ 239519 w 239519"/>
                  <a:gd name="connsiteY1" fmla="*/ 485555 h 485555"/>
                </a:gdLst>
                <a:ahLst/>
                <a:cxnLst>
                  <a:cxn ang="0">
                    <a:pos x="connsiteX0" y="connsiteY0"/>
                  </a:cxn>
                  <a:cxn ang="0">
                    <a:pos x="connsiteX1" y="connsiteY1"/>
                  </a:cxn>
                </a:cxnLst>
                <a:rect l="l" t="t" r="r" b="b"/>
                <a:pathLst>
                  <a:path w="239519" h="485555">
                    <a:moveTo>
                      <a:pt x="0" y="0"/>
                    </a:moveTo>
                    <a:lnTo>
                      <a:pt x="239519" y="485555"/>
                    </a:lnTo>
                  </a:path>
                </a:pathLst>
              </a:custGeom>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5" name="Forma libre: forma 44">
                <a:extLst>
                  <a:ext uri="{FF2B5EF4-FFF2-40B4-BE49-F238E27FC236}">
                    <a16:creationId xmlns:a16="http://schemas.microsoft.com/office/drawing/2014/main" id="{1098CFF3-9C03-DC80-C5D0-10C28064F613}"/>
                  </a:ext>
                </a:extLst>
              </p:cNvPr>
              <p:cNvSpPr/>
              <p:nvPr/>
            </p:nvSpPr>
            <p:spPr>
              <a:xfrm>
                <a:off x="5658738" y="4409456"/>
                <a:ext cx="490608" cy="109319"/>
              </a:xfrm>
              <a:custGeom>
                <a:avLst/>
                <a:gdLst>
                  <a:gd name="connsiteX0" fmla="*/ 0 w 490608"/>
                  <a:gd name="connsiteY0" fmla="*/ 0 h 109319"/>
                  <a:gd name="connsiteX1" fmla="*/ 490609 w 490608"/>
                  <a:gd name="connsiteY1" fmla="*/ 109320 h 109319"/>
                </a:gdLst>
                <a:ahLst/>
                <a:cxnLst>
                  <a:cxn ang="0">
                    <a:pos x="connsiteX0" y="connsiteY0"/>
                  </a:cxn>
                  <a:cxn ang="0">
                    <a:pos x="connsiteX1" y="connsiteY1"/>
                  </a:cxn>
                </a:cxnLst>
                <a:rect l="l" t="t" r="r" b="b"/>
                <a:pathLst>
                  <a:path w="490608" h="109319">
                    <a:moveTo>
                      <a:pt x="0" y="0"/>
                    </a:moveTo>
                    <a:lnTo>
                      <a:pt x="490609" y="109320"/>
                    </a:lnTo>
                  </a:path>
                </a:pathLst>
              </a:custGeom>
              <a:ln w="6649" cap="flat">
                <a:solidFill>
                  <a:srgbClr val="E30613"/>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6" name="Forma libre: forma 45">
                <a:extLst>
                  <a:ext uri="{FF2B5EF4-FFF2-40B4-BE49-F238E27FC236}">
                    <a16:creationId xmlns:a16="http://schemas.microsoft.com/office/drawing/2014/main" id="{B1D1943B-98C9-1A36-8B35-288F8713EECD}"/>
                  </a:ext>
                </a:extLst>
              </p:cNvPr>
              <p:cNvSpPr/>
              <p:nvPr/>
            </p:nvSpPr>
            <p:spPr>
              <a:xfrm>
                <a:off x="3026419" y="3082191"/>
                <a:ext cx="1612932" cy="1612931"/>
              </a:xfrm>
              <a:custGeom>
                <a:avLst/>
                <a:gdLst>
                  <a:gd name="connsiteX0" fmla="*/ 805245 w 1612932"/>
                  <a:gd name="connsiteY0" fmla="*/ 1612884 h 1612931"/>
                  <a:gd name="connsiteX1" fmla="*/ 1611844 w 1612932"/>
                  <a:gd name="connsiteY1" fmla="*/ 806551 h 1612931"/>
                  <a:gd name="connsiteX2" fmla="*/ 805511 w 1612932"/>
                  <a:gd name="connsiteY2" fmla="*/ -48 h 1612931"/>
                  <a:gd name="connsiteX3" fmla="*/ -1088 w 1612932"/>
                  <a:gd name="connsiteY3" fmla="*/ 806285 h 1612931"/>
                  <a:gd name="connsiteX4" fmla="*/ -1088 w 1612932"/>
                  <a:gd name="connsiteY4" fmla="*/ 806418 h 1612931"/>
                  <a:gd name="connsiteX5" fmla="*/ 805378 w 1612932"/>
                  <a:gd name="connsiteY5" fmla="*/ 1612884 h 161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932" h="1612931">
                    <a:moveTo>
                      <a:pt x="805245" y="1612884"/>
                    </a:moveTo>
                    <a:cubicBezTo>
                      <a:pt x="1250636" y="1612964"/>
                      <a:pt x="1611711" y="1251956"/>
                      <a:pt x="1611844" y="806551"/>
                    </a:cubicBezTo>
                    <a:cubicBezTo>
                      <a:pt x="1611977" y="361146"/>
                      <a:pt x="1250903" y="32"/>
                      <a:pt x="805511" y="-48"/>
                    </a:cubicBezTo>
                    <a:cubicBezTo>
                      <a:pt x="360120" y="-128"/>
                      <a:pt x="-955" y="360880"/>
                      <a:pt x="-1088" y="806285"/>
                    </a:cubicBezTo>
                    <a:cubicBezTo>
                      <a:pt x="-1088" y="806325"/>
                      <a:pt x="-1088" y="806378"/>
                      <a:pt x="-1088" y="806418"/>
                    </a:cubicBezTo>
                    <a:cubicBezTo>
                      <a:pt x="-1088" y="1251823"/>
                      <a:pt x="359987" y="1612884"/>
                      <a:pt x="805378" y="1612884"/>
                    </a:cubicBezTo>
                  </a:path>
                </a:pathLst>
              </a:custGeom>
              <a:solidFill>
                <a:srgbClr val="FFFFFF"/>
              </a:solidFill>
              <a:ln w="6350" cap="flat">
                <a:solidFill>
                  <a:srgbClr val="E8E8E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7" name="Forma libre: forma 46">
                <a:extLst>
                  <a:ext uri="{FF2B5EF4-FFF2-40B4-BE49-F238E27FC236}">
                    <a16:creationId xmlns:a16="http://schemas.microsoft.com/office/drawing/2014/main" id="{09C5CEF4-9324-094D-5D91-3AF67DC59866}"/>
                  </a:ext>
                </a:extLst>
              </p:cNvPr>
              <p:cNvSpPr/>
              <p:nvPr/>
            </p:nvSpPr>
            <p:spPr>
              <a:xfrm rot="21261000">
                <a:off x="3592509" y="2134773"/>
                <a:ext cx="496061" cy="496061"/>
              </a:xfrm>
              <a:custGeom>
                <a:avLst/>
                <a:gdLst>
                  <a:gd name="connsiteX0" fmla="*/ 494973 w 496061"/>
                  <a:gd name="connsiteY0" fmla="*/ 247983 h 496061"/>
                  <a:gd name="connsiteX1" fmla="*/ 246942 w 496061"/>
                  <a:gd name="connsiteY1" fmla="*/ 496014 h 496061"/>
                  <a:gd name="connsiteX2" fmla="*/ -1089 w 496061"/>
                  <a:gd name="connsiteY2" fmla="*/ 247983 h 496061"/>
                  <a:gd name="connsiteX3" fmla="*/ 246942 w 496061"/>
                  <a:gd name="connsiteY3" fmla="*/ -48 h 496061"/>
                  <a:gd name="connsiteX4" fmla="*/ 494973 w 496061"/>
                  <a:gd name="connsiteY4" fmla="*/ 247983 h 49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1" h="496061">
                    <a:moveTo>
                      <a:pt x="494973" y="247983"/>
                    </a:moveTo>
                    <a:cubicBezTo>
                      <a:pt x="494973" y="384966"/>
                      <a:pt x="383927" y="496014"/>
                      <a:pt x="246942" y="496014"/>
                    </a:cubicBezTo>
                    <a:cubicBezTo>
                      <a:pt x="109958" y="496014"/>
                      <a:pt x="-1089" y="384966"/>
                      <a:pt x="-1089" y="247983"/>
                    </a:cubicBezTo>
                    <a:cubicBezTo>
                      <a:pt x="-1089" y="110999"/>
                      <a:pt x="109958" y="-48"/>
                      <a:pt x="246942" y="-48"/>
                    </a:cubicBezTo>
                    <a:cubicBezTo>
                      <a:pt x="383927" y="-48"/>
                      <a:pt x="494973" y="110999"/>
                      <a:pt x="494973" y="247983"/>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8" name="Forma libre: forma 47">
                <a:extLst>
                  <a:ext uri="{FF2B5EF4-FFF2-40B4-BE49-F238E27FC236}">
                    <a16:creationId xmlns:a16="http://schemas.microsoft.com/office/drawing/2014/main" id="{4C15FD1D-CDBC-767C-1F05-7F7CFBD7FFBA}"/>
                  </a:ext>
                </a:extLst>
              </p:cNvPr>
              <p:cNvSpPr/>
              <p:nvPr/>
            </p:nvSpPr>
            <p:spPr>
              <a:xfrm rot="20946002">
                <a:off x="5114049" y="4059007"/>
                <a:ext cx="606445" cy="606445"/>
              </a:xfrm>
              <a:custGeom>
                <a:avLst/>
                <a:gdLst>
                  <a:gd name="connsiteX0" fmla="*/ 605357 w 606445"/>
                  <a:gd name="connsiteY0" fmla="*/ 303175 h 606445"/>
                  <a:gd name="connsiteX1" fmla="*/ 302133 w 606445"/>
                  <a:gd name="connsiteY1" fmla="*/ 606397 h 606445"/>
                  <a:gd name="connsiteX2" fmla="*/ -1090 w 606445"/>
                  <a:gd name="connsiteY2" fmla="*/ 303174 h 606445"/>
                  <a:gd name="connsiteX3" fmla="*/ 302133 w 606445"/>
                  <a:gd name="connsiteY3" fmla="*/ -48 h 606445"/>
                  <a:gd name="connsiteX4" fmla="*/ 605357 w 606445"/>
                  <a:gd name="connsiteY4" fmla="*/ 303175 h 60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445" h="606445">
                    <a:moveTo>
                      <a:pt x="605357" y="303175"/>
                    </a:moveTo>
                    <a:cubicBezTo>
                      <a:pt x="605357" y="470640"/>
                      <a:pt x="469599" y="606397"/>
                      <a:pt x="302133" y="606397"/>
                    </a:cubicBezTo>
                    <a:cubicBezTo>
                      <a:pt x="134669" y="606397"/>
                      <a:pt x="-1090" y="470640"/>
                      <a:pt x="-1090" y="303174"/>
                    </a:cubicBezTo>
                    <a:cubicBezTo>
                      <a:pt x="-1090" y="135709"/>
                      <a:pt x="134667" y="-48"/>
                      <a:pt x="302133" y="-48"/>
                    </a:cubicBezTo>
                    <a:cubicBezTo>
                      <a:pt x="469598" y="-48"/>
                      <a:pt x="605357" y="135709"/>
                      <a:pt x="605357" y="303175"/>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49" name="Forma libre: forma 48">
                <a:extLst>
                  <a:ext uri="{FF2B5EF4-FFF2-40B4-BE49-F238E27FC236}">
                    <a16:creationId xmlns:a16="http://schemas.microsoft.com/office/drawing/2014/main" id="{6DE25E47-F8E0-3629-E959-7243694B483D}"/>
                  </a:ext>
                </a:extLst>
              </p:cNvPr>
              <p:cNvSpPr/>
              <p:nvPr/>
            </p:nvSpPr>
            <p:spPr>
              <a:xfrm>
                <a:off x="4185182" y="5039174"/>
                <a:ext cx="661770" cy="661770"/>
              </a:xfrm>
              <a:custGeom>
                <a:avLst/>
                <a:gdLst>
                  <a:gd name="connsiteX0" fmla="*/ 329664 w 661770"/>
                  <a:gd name="connsiteY0" fmla="*/ 661722 h 661770"/>
                  <a:gd name="connsiteX1" fmla="*/ 660682 w 661770"/>
                  <a:gd name="connsiteY1" fmla="*/ 330970 h 661770"/>
                  <a:gd name="connsiteX2" fmla="*/ 329930 w 661770"/>
                  <a:gd name="connsiteY2" fmla="*/ -48 h 661770"/>
                  <a:gd name="connsiteX3" fmla="*/ -1088 w 661770"/>
                  <a:gd name="connsiteY3" fmla="*/ 330704 h 661770"/>
                  <a:gd name="connsiteX4" fmla="*/ -1088 w 661770"/>
                  <a:gd name="connsiteY4" fmla="*/ 330837 h 661770"/>
                  <a:gd name="connsiteX5" fmla="*/ 329531 w 661770"/>
                  <a:gd name="connsiteY5" fmla="*/ 661722 h 661770"/>
                  <a:gd name="connsiteX6" fmla="*/ 329664 w 661770"/>
                  <a:gd name="connsiteY6" fmla="*/ 661722 h 6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770" h="661770">
                    <a:moveTo>
                      <a:pt x="329664" y="661722"/>
                    </a:moveTo>
                    <a:cubicBezTo>
                      <a:pt x="512395" y="661802"/>
                      <a:pt x="660549" y="513715"/>
                      <a:pt x="660682" y="330970"/>
                    </a:cubicBezTo>
                    <a:cubicBezTo>
                      <a:pt x="660815" y="148225"/>
                      <a:pt x="512662" y="32"/>
                      <a:pt x="329930" y="-48"/>
                    </a:cubicBezTo>
                    <a:cubicBezTo>
                      <a:pt x="147199" y="-128"/>
                      <a:pt x="-955" y="147959"/>
                      <a:pt x="-1088" y="330704"/>
                    </a:cubicBezTo>
                    <a:cubicBezTo>
                      <a:pt x="-1088" y="330744"/>
                      <a:pt x="-1088" y="330797"/>
                      <a:pt x="-1088" y="330837"/>
                    </a:cubicBezTo>
                    <a:cubicBezTo>
                      <a:pt x="-1221" y="513502"/>
                      <a:pt x="146799" y="661656"/>
                      <a:pt x="329531" y="661722"/>
                    </a:cubicBezTo>
                    <a:cubicBezTo>
                      <a:pt x="329531" y="661722"/>
                      <a:pt x="329664" y="661722"/>
                      <a:pt x="329664" y="661722"/>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50" name="Forma libre: forma 49">
                <a:extLst>
                  <a:ext uri="{FF2B5EF4-FFF2-40B4-BE49-F238E27FC236}">
                    <a16:creationId xmlns:a16="http://schemas.microsoft.com/office/drawing/2014/main" id="{96EB7F1B-01F0-6102-7D18-8BA468100DCD}"/>
                  </a:ext>
                </a:extLst>
              </p:cNvPr>
              <p:cNvSpPr/>
              <p:nvPr/>
            </p:nvSpPr>
            <p:spPr>
              <a:xfrm>
                <a:off x="2791156" y="4984116"/>
                <a:ext cx="716827" cy="716828"/>
              </a:xfrm>
              <a:custGeom>
                <a:avLst/>
                <a:gdLst>
                  <a:gd name="connsiteX0" fmla="*/ 357193 w 716827"/>
                  <a:gd name="connsiteY0" fmla="*/ 716781 h 716828"/>
                  <a:gd name="connsiteX1" fmla="*/ 715740 w 716827"/>
                  <a:gd name="connsiteY1" fmla="*/ 358499 h 716828"/>
                  <a:gd name="connsiteX2" fmla="*/ 357459 w 716827"/>
                  <a:gd name="connsiteY2" fmla="*/ -48 h 716828"/>
                  <a:gd name="connsiteX3" fmla="*/ -1088 w 716827"/>
                  <a:gd name="connsiteY3" fmla="*/ 358233 h 716828"/>
                  <a:gd name="connsiteX4" fmla="*/ -1088 w 716827"/>
                  <a:gd name="connsiteY4" fmla="*/ 358366 h 716828"/>
                  <a:gd name="connsiteX5" fmla="*/ 357193 w 716827"/>
                  <a:gd name="connsiteY5" fmla="*/ 716781 h 7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27" h="716828">
                    <a:moveTo>
                      <a:pt x="357193" y="716781"/>
                    </a:moveTo>
                    <a:cubicBezTo>
                      <a:pt x="555085" y="716861"/>
                      <a:pt x="715606" y="556445"/>
                      <a:pt x="715740" y="358499"/>
                    </a:cubicBezTo>
                    <a:cubicBezTo>
                      <a:pt x="715873" y="160553"/>
                      <a:pt x="555352" y="31"/>
                      <a:pt x="357459" y="-48"/>
                    </a:cubicBezTo>
                    <a:cubicBezTo>
                      <a:pt x="159566" y="-128"/>
                      <a:pt x="-957" y="160287"/>
                      <a:pt x="-1088" y="358233"/>
                    </a:cubicBezTo>
                    <a:cubicBezTo>
                      <a:pt x="-1088" y="358273"/>
                      <a:pt x="-1088" y="358326"/>
                      <a:pt x="-1088" y="358366"/>
                    </a:cubicBezTo>
                    <a:cubicBezTo>
                      <a:pt x="-1088" y="556259"/>
                      <a:pt x="159300" y="716714"/>
                      <a:pt x="357193" y="716781"/>
                    </a:cubicBezTo>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51" name="Forma libre: forma 50">
                <a:extLst>
                  <a:ext uri="{FF2B5EF4-FFF2-40B4-BE49-F238E27FC236}">
                    <a16:creationId xmlns:a16="http://schemas.microsoft.com/office/drawing/2014/main" id="{38415FC1-D316-299F-AFAD-522B14110386}"/>
                  </a:ext>
                </a:extLst>
              </p:cNvPr>
              <p:cNvSpPr/>
              <p:nvPr/>
            </p:nvSpPr>
            <p:spPr>
              <a:xfrm>
                <a:off x="1933089" y="3966990"/>
                <a:ext cx="771355" cy="771355"/>
              </a:xfrm>
              <a:custGeom>
                <a:avLst/>
                <a:gdLst>
                  <a:gd name="connsiteX0" fmla="*/ 384590 w 771355"/>
                  <a:gd name="connsiteY0" fmla="*/ 771308 h 771355"/>
                  <a:gd name="connsiteX1" fmla="*/ 770268 w 771355"/>
                  <a:gd name="connsiteY1" fmla="*/ 385630 h 771355"/>
                  <a:gd name="connsiteX2" fmla="*/ 384590 w 771355"/>
                  <a:gd name="connsiteY2" fmla="*/ -48 h 771355"/>
                  <a:gd name="connsiteX3" fmla="*/ -1088 w 771355"/>
                  <a:gd name="connsiteY3" fmla="*/ 385630 h 771355"/>
                  <a:gd name="connsiteX4" fmla="*/ 384590 w 771355"/>
                  <a:gd name="connsiteY4" fmla="*/ 771308 h 771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355" h="771355">
                    <a:moveTo>
                      <a:pt x="384590" y="771308"/>
                    </a:moveTo>
                    <a:cubicBezTo>
                      <a:pt x="597644" y="771308"/>
                      <a:pt x="770268" y="598631"/>
                      <a:pt x="770268" y="385630"/>
                    </a:cubicBezTo>
                    <a:cubicBezTo>
                      <a:pt x="770268" y="172629"/>
                      <a:pt x="597644" y="-48"/>
                      <a:pt x="384590" y="-48"/>
                    </a:cubicBezTo>
                    <a:cubicBezTo>
                      <a:pt x="171536" y="-48"/>
                      <a:pt x="-1088" y="172629"/>
                      <a:pt x="-1088" y="385630"/>
                    </a:cubicBezTo>
                    <a:cubicBezTo>
                      <a:pt x="-1088" y="598631"/>
                      <a:pt x="171536" y="771308"/>
                      <a:pt x="384590" y="771308"/>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52" name="Forma libre: forma 51">
                <a:extLst>
                  <a:ext uri="{FF2B5EF4-FFF2-40B4-BE49-F238E27FC236}">
                    <a16:creationId xmlns:a16="http://schemas.microsoft.com/office/drawing/2014/main" id="{F0131F6E-E317-E831-E0C6-07B2090AE27E}"/>
                  </a:ext>
                </a:extLst>
              </p:cNvPr>
              <p:cNvSpPr/>
              <p:nvPr/>
            </p:nvSpPr>
            <p:spPr>
              <a:xfrm>
                <a:off x="2217294" y="2608739"/>
                <a:ext cx="826945" cy="826946"/>
              </a:xfrm>
              <a:custGeom>
                <a:avLst/>
                <a:gdLst>
                  <a:gd name="connsiteX0" fmla="*/ 412385 w 826945"/>
                  <a:gd name="connsiteY0" fmla="*/ 826898 h 826946"/>
                  <a:gd name="connsiteX1" fmla="*/ 825858 w 826945"/>
                  <a:gd name="connsiteY1" fmla="*/ 413425 h 826946"/>
                  <a:gd name="connsiteX2" fmla="*/ 412385 w 826945"/>
                  <a:gd name="connsiteY2" fmla="*/ -48 h 826946"/>
                  <a:gd name="connsiteX3" fmla="*/ -1088 w 826945"/>
                  <a:gd name="connsiteY3" fmla="*/ 413425 h 826946"/>
                  <a:gd name="connsiteX4" fmla="*/ 412385 w 826945"/>
                  <a:gd name="connsiteY4" fmla="*/ 826898 h 826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945" h="826946">
                    <a:moveTo>
                      <a:pt x="412385" y="826898"/>
                    </a:moveTo>
                    <a:cubicBezTo>
                      <a:pt x="640733" y="826898"/>
                      <a:pt x="825858" y="641786"/>
                      <a:pt x="825858" y="413425"/>
                    </a:cubicBezTo>
                    <a:cubicBezTo>
                      <a:pt x="825858" y="185064"/>
                      <a:pt x="640733" y="-48"/>
                      <a:pt x="412385" y="-48"/>
                    </a:cubicBezTo>
                    <a:cubicBezTo>
                      <a:pt x="184036" y="-48"/>
                      <a:pt x="-1088" y="185064"/>
                      <a:pt x="-1088" y="413425"/>
                    </a:cubicBezTo>
                    <a:cubicBezTo>
                      <a:pt x="-1088" y="641786"/>
                      <a:pt x="184036" y="826898"/>
                      <a:pt x="412385" y="826898"/>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dirty="0">
                  <a:ln>
                    <a:noFill/>
                  </a:ln>
                  <a:solidFill>
                    <a:srgbClr val="000715"/>
                  </a:solidFill>
                  <a:effectLst/>
                  <a:uLnTx/>
                  <a:uFillTx/>
                  <a:latin typeface="Arial"/>
                </a:endParaRPr>
              </a:p>
            </p:txBody>
          </p:sp>
          <p:sp>
            <p:nvSpPr>
              <p:cNvPr id="53" name="Forma libre: forma 52">
                <a:extLst>
                  <a:ext uri="{FF2B5EF4-FFF2-40B4-BE49-F238E27FC236}">
                    <a16:creationId xmlns:a16="http://schemas.microsoft.com/office/drawing/2014/main" id="{8B3943AE-957E-6A34-9178-E916DEA7E683}"/>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7</a:t>
                </a:r>
              </a:p>
            </p:txBody>
          </p:sp>
          <p:sp>
            <p:nvSpPr>
              <p:cNvPr id="54" name="Forma libre: forma 53">
                <a:extLst>
                  <a:ext uri="{FF2B5EF4-FFF2-40B4-BE49-F238E27FC236}">
                    <a16:creationId xmlns:a16="http://schemas.microsoft.com/office/drawing/2014/main" id="{1EC5E553-6EE6-9661-D9BB-8A2B51F4FBC1}"/>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close/>
                  </a:path>
                </a:pathLst>
              </a:custGeom>
              <a:noFill/>
              <a:ln w="664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sp>
            <p:nvSpPr>
              <p:cNvPr id="55" name="CuadroTexto 54">
                <a:extLst>
                  <a:ext uri="{FF2B5EF4-FFF2-40B4-BE49-F238E27FC236}">
                    <a16:creationId xmlns:a16="http://schemas.microsoft.com/office/drawing/2014/main" id="{20F4B79B-B570-4B3A-7A65-C08DE0F211FB}"/>
                  </a:ext>
                </a:extLst>
              </p:cNvPr>
              <p:cNvSpPr txBox="1"/>
              <p:nvPr/>
            </p:nvSpPr>
            <p:spPr>
              <a:xfrm>
                <a:off x="3128562" y="3458523"/>
                <a:ext cx="1418540" cy="6739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err="1">
                    <a:ln>
                      <a:noFill/>
                    </a:ln>
                    <a:solidFill>
                      <a:srgbClr val="000715"/>
                    </a:solidFill>
                    <a:effectLst/>
                    <a:uLnTx/>
                    <a:uFillTx/>
                    <a:latin typeface="Santander Text SemiBold" panose="020B0704020201010104" pitchFamily="34" charset="0"/>
                    <a:cs typeface="Santander Text SemiBold" panose="020B0704020201010104" pitchFamily="34" charset="0"/>
                  </a:rPr>
                  <a:t>Situaciones</a:t>
                </a:r>
                <a:r>
                  <a:rPr kumimoji="0" lang="en-US" sz="1100" b="0" i="0" u="none" strike="noStrike" kern="0" cap="none" spc="0" normalizeH="0" baseline="0" noProof="0" dirty="0">
                    <a:ln>
                      <a:noFill/>
                    </a:ln>
                    <a:solidFill>
                      <a:srgbClr val="000715"/>
                    </a:solidFill>
                    <a:effectLst/>
                    <a:uLnTx/>
                    <a:uFillTx/>
                    <a:latin typeface="Santander Text SemiBold" panose="020B0704020201010104" pitchFamily="34" charset="0"/>
                    <a:cs typeface="Santander Text SemiBold" panose="020B0704020201010104" pitchFamily="34" charset="0"/>
                  </a:rPr>
                  <a:t> de </a:t>
                </a:r>
                <a:r>
                  <a:rPr kumimoji="0" lang="en-US" sz="1100" b="0" i="0" u="none" strike="noStrike" kern="0" cap="none" spc="0" normalizeH="0" baseline="0" noProof="0" dirty="0" err="1">
                    <a:ln>
                      <a:noFill/>
                    </a:ln>
                    <a:solidFill>
                      <a:srgbClr val="000715"/>
                    </a:solidFill>
                    <a:effectLst/>
                    <a:uLnTx/>
                    <a:uFillTx/>
                    <a:latin typeface="Santander Text SemiBold" panose="020B0704020201010104" pitchFamily="34" charset="0"/>
                    <a:cs typeface="Santander Text SemiBold" panose="020B0704020201010104" pitchFamily="34" charset="0"/>
                  </a:rPr>
                  <a:t>Riesgo</a:t>
                </a:r>
                <a:r>
                  <a:rPr kumimoji="0" lang="en-US" sz="1100" b="0" i="0" u="none" strike="noStrike" kern="0" cap="none" spc="0" normalizeH="0" baseline="0" noProof="0" dirty="0">
                    <a:ln>
                      <a:noFill/>
                    </a:ln>
                    <a:solidFill>
                      <a:srgbClr val="000715"/>
                    </a:solidFill>
                    <a:effectLst/>
                    <a:uLnTx/>
                    <a:uFillTx/>
                    <a:latin typeface="Santander Text SemiBold" panose="020B0704020201010104" pitchFamily="34" charset="0"/>
                    <a:cs typeface="Santander Text SemiBold" panose="020B0704020201010104" pitchFamily="34" charset="0"/>
                  </a:rPr>
                  <a:t> de la </a:t>
                </a:r>
                <a:r>
                  <a:rPr kumimoji="0" lang="en-US" sz="1100" b="0" i="0" u="none" strike="noStrike" kern="0" cap="none" spc="0" normalizeH="0" baseline="0" noProof="0" dirty="0" err="1">
                    <a:ln>
                      <a:noFill/>
                    </a:ln>
                    <a:solidFill>
                      <a:srgbClr val="000715"/>
                    </a:solidFill>
                    <a:effectLst/>
                    <a:uLnTx/>
                    <a:uFillTx/>
                    <a:latin typeface="Santander Text SemiBold" panose="020B0704020201010104" pitchFamily="34" charset="0"/>
                    <a:cs typeface="Santander Text SemiBold" panose="020B0704020201010104" pitchFamily="34" charset="0"/>
                  </a:rPr>
                  <a:t>Información</a:t>
                </a:r>
                <a:endParaRPr kumimoji="0" lang="en-US" sz="1100" b="0" i="0" u="none" strike="noStrike" kern="0" cap="none" spc="0" normalizeH="0" baseline="0" noProof="0" dirty="0">
                  <a:ln>
                    <a:noFill/>
                  </a:ln>
                  <a:solidFill>
                    <a:srgbClr val="000715"/>
                  </a:solidFill>
                  <a:effectLst/>
                  <a:uLnTx/>
                  <a:uFillTx/>
                  <a:latin typeface="Santander Text SemiBold" panose="020B0704020201010104" pitchFamily="34" charset="0"/>
                  <a:cs typeface="Santander Text SemiBold" panose="020B0704020201010104" pitchFamily="34" charset="0"/>
                </a:endParaRPr>
              </a:p>
            </p:txBody>
          </p:sp>
          <p:sp>
            <p:nvSpPr>
              <p:cNvPr id="56" name="object 9">
                <a:extLst>
                  <a:ext uri="{FF2B5EF4-FFF2-40B4-BE49-F238E27FC236}">
                    <a16:creationId xmlns:a16="http://schemas.microsoft.com/office/drawing/2014/main" id="{FB41BF5B-3D86-3C81-1BB7-B697F4898EAD}"/>
                  </a:ext>
                </a:extLst>
              </p:cNvPr>
              <p:cNvSpPr txBox="1"/>
              <p:nvPr/>
            </p:nvSpPr>
            <p:spPr>
              <a:xfrm>
                <a:off x="1108943" y="2430509"/>
                <a:ext cx="904882" cy="16992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Hackers</a:t>
                </a:r>
              </a:p>
            </p:txBody>
          </p:sp>
          <p:sp>
            <p:nvSpPr>
              <p:cNvPr id="57" name="Forma libre: forma 56">
                <a:extLst>
                  <a:ext uri="{FF2B5EF4-FFF2-40B4-BE49-F238E27FC236}">
                    <a16:creationId xmlns:a16="http://schemas.microsoft.com/office/drawing/2014/main" id="{ED9E1512-B54A-3BAD-52FC-29CCCFCFB386}"/>
                  </a:ext>
                </a:extLst>
              </p:cNvPr>
              <p:cNvSpPr/>
              <p:nvPr/>
            </p:nvSpPr>
            <p:spPr>
              <a:xfrm>
                <a:off x="1564699" y="4403737"/>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6</a:t>
                </a:r>
              </a:p>
            </p:txBody>
          </p:sp>
          <p:sp>
            <p:nvSpPr>
              <p:cNvPr id="58" name="object 9">
                <a:extLst>
                  <a:ext uri="{FF2B5EF4-FFF2-40B4-BE49-F238E27FC236}">
                    <a16:creationId xmlns:a16="http://schemas.microsoft.com/office/drawing/2014/main" id="{EDBDB5A6-EF44-3980-3057-3182FECF3D91}"/>
                  </a:ext>
                </a:extLst>
              </p:cNvPr>
              <p:cNvSpPr txBox="1"/>
              <p:nvPr/>
            </p:nvSpPr>
            <p:spPr>
              <a:xfrm>
                <a:off x="729730" y="4414610"/>
                <a:ext cx="904882" cy="325452"/>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Robo de equpo portátil</a:t>
                </a:r>
              </a:p>
            </p:txBody>
          </p:sp>
          <p:sp>
            <p:nvSpPr>
              <p:cNvPr id="59" name="object 9">
                <a:extLst>
                  <a:ext uri="{FF2B5EF4-FFF2-40B4-BE49-F238E27FC236}">
                    <a16:creationId xmlns:a16="http://schemas.microsoft.com/office/drawing/2014/main" id="{E8D87A8B-76C5-75C4-553C-F79FB8722C0F}"/>
                  </a:ext>
                </a:extLst>
              </p:cNvPr>
              <p:cNvSpPr txBox="1"/>
              <p:nvPr/>
            </p:nvSpPr>
            <p:spPr>
              <a:xfrm>
                <a:off x="3776161" y="1304730"/>
                <a:ext cx="904882" cy="16992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Contraseñas</a:t>
                </a:r>
              </a:p>
            </p:txBody>
          </p:sp>
          <p:sp>
            <p:nvSpPr>
              <p:cNvPr id="60" name="object 9">
                <a:extLst>
                  <a:ext uri="{FF2B5EF4-FFF2-40B4-BE49-F238E27FC236}">
                    <a16:creationId xmlns:a16="http://schemas.microsoft.com/office/drawing/2014/main" id="{6237C303-5400-1D09-223C-56B55C9F664D}"/>
                  </a:ext>
                </a:extLst>
              </p:cNvPr>
              <p:cNvSpPr txBox="1"/>
              <p:nvPr/>
            </p:nvSpPr>
            <p:spPr>
              <a:xfrm>
                <a:off x="2768294" y="6198584"/>
                <a:ext cx="904882" cy="325452"/>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Bugbear (virus gusano)</a:t>
                </a:r>
              </a:p>
            </p:txBody>
          </p:sp>
          <p:sp>
            <p:nvSpPr>
              <p:cNvPr id="61" name="object 9">
                <a:extLst>
                  <a:ext uri="{FF2B5EF4-FFF2-40B4-BE49-F238E27FC236}">
                    <a16:creationId xmlns:a16="http://schemas.microsoft.com/office/drawing/2014/main" id="{9F6E3093-D411-9EC1-AB1D-1C6F7D35AE04}"/>
                  </a:ext>
                </a:extLst>
              </p:cNvPr>
              <p:cNvSpPr txBox="1"/>
              <p:nvPr/>
            </p:nvSpPr>
            <p:spPr>
              <a:xfrm>
                <a:off x="4848935" y="6198584"/>
                <a:ext cx="904882" cy="480977"/>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Piratería y Delitos Informáticos</a:t>
                </a:r>
              </a:p>
            </p:txBody>
          </p:sp>
          <p:sp>
            <p:nvSpPr>
              <p:cNvPr id="62" name="Forma libre: forma 61">
                <a:extLst>
                  <a:ext uri="{FF2B5EF4-FFF2-40B4-BE49-F238E27FC236}">
                    <a16:creationId xmlns:a16="http://schemas.microsoft.com/office/drawing/2014/main" id="{D8C8D809-C6DD-08B2-0C82-E0EA5FC8B2C3}"/>
                  </a:ext>
                </a:extLst>
              </p:cNvPr>
              <p:cNvSpPr/>
              <p:nvPr/>
            </p:nvSpPr>
            <p:spPr>
              <a:xfrm>
                <a:off x="4871822" y="2689864"/>
                <a:ext cx="551386" cy="551386"/>
              </a:xfrm>
              <a:custGeom>
                <a:avLst/>
                <a:gdLst>
                  <a:gd name="connsiteX0" fmla="*/ 274472 w 551386"/>
                  <a:gd name="connsiteY0" fmla="*/ 551338 h 551386"/>
                  <a:gd name="connsiteX1" fmla="*/ 550298 w 551386"/>
                  <a:gd name="connsiteY1" fmla="*/ 275778 h 551386"/>
                  <a:gd name="connsiteX2" fmla="*/ 274738 w 551386"/>
                  <a:gd name="connsiteY2" fmla="*/ -48 h 551386"/>
                  <a:gd name="connsiteX3" fmla="*/ -1088 w 551386"/>
                  <a:gd name="connsiteY3" fmla="*/ 275512 h 551386"/>
                  <a:gd name="connsiteX4" fmla="*/ -1088 w 551386"/>
                  <a:gd name="connsiteY4" fmla="*/ 275645 h 551386"/>
                  <a:gd name="connsiteX5" fmla="*/ 274472 w 551386"/>
                  <a:gd name="connsiteY5" fmla="*/ 551338 h 5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386" h="551386">
                    <a:moveTo>
                      <a:pt x="274472" y="551338"/>
                    </a:moveTo>
                    <a:cubicBezTo>
                      <a:pt x="426749" y="551418"/>
                      <a:pt x="550165" y="428041"/>
                      <a:pt x="550298" y="275778"/>
                    </a:cubicBezTo>
                    <a:cubicBezTo>
                      <a:pt x="550431" y="123515"/>
                      <a:pt x="427014" y="32"/>
                      <a:pt x="274738" y="-48"/>
                    </a:cubicBezTo>
                    <a:cubicBezTo>
                      <a:pt x="122462" y="-128"/>
                      <a:pt x="-955" y="123249"/>
                      <a:pt x="-1088" y="275512"/>
                    </a:cubicBezTo>
                    <a:cubicBezTo>
                      <a:pt x="-1088" y="275552"/>
                      <a:pt x="-1088" y="275605"/>
                      <a:pt x="-1088" y="275645"/>
                    </a:cubicBezTo>
                    <a:cubicBezTo>
                      <a:pt x="-1088" y="427855"/>
                      <a:pt x="122329" y="551259"/>
                      <a:pt x="274472" y="551338"/>
                    </a:cubicBezTo>
                    <a:close/>
                  </a:path>
                </a:pathLst>
              </a:custGeom>
              <a:solidFill>
                <a:srgbClr val="FFFFFF"/>
              </a:solidFill>
              <a:ln w="6350" cap="flat">
                <a:solidFill>
                  <a:srgbClr val="005471"/>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000715"/>
                  </a:solidFill>
                  <a:effectLst/>
                  <a:uLnTx/>
                  <a:uFillTx/>
                  <a:latin typeface="Arial"/>
                </a:endParaRPr>
              </a:p>
            </p:txBody>
          </p:sp>
        </p:grpSp>
        <p:sp>
          <p:nvSpPr>
            <p:cNvPr id="9" name="Forma libre: forma 8">
              <a:extLst>
                <a:ext uri="{FF2B5EF4-FFF2-40B4-BE49-F238E27FC236}">
                  <a16:creationId xmlns:a16="http://schemas.microsoft.com/office/drawing/2014/main" id="{CF9FD1F0-0761-00E7-B72A-84489AA6EB61}"/>
                </a:ext>
              </a:extLst>
            </p:cNvPr>
            <p:cNvSpPr/>
            <p:nvPr/>
          </p:nvSpPr>
          <p:spPr>
            <a:xfrm>
              <a:off x="6974589"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5</a:t>
              </a:r>
            </a:p>
          </p:txBody>
        </p:sp>
        <p:pic>
          <p:nvPicPr>
            <p:cNvPr id="10" name="Gráfico 9">
              <a:extLst>
                <a:ext uri="{FF2B5EF4-FFF2-40B4-BE49-F238E27FC236}">
                  <a16:creationId xmlns:a16="http://schemas.microsoft.com/office/drawing/2014/main" id="{0680B586-367F-51E2-44C7-E1D7B6CEA2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1864" y="2418308"/>
              <a:ext cx="343722" cy="343722"/>
            </a:xfrm>
            <a:prstGeom prst="rect">
              <a:avLst/>
            </a:prstGeom>
          </p:spPr>
        </p:pic>
        <p:sp>
          <p:nvSpPr>
            <p:cNvPr id="11" name="Forma libre: forma 10">
              <a:extLst>
                <a:ext uri="{FF2B5EF4-FFF2-40B4-BE49-F238E27FC236}">
                  <a16:creationId xmlns:a16="http://schemas.microsoft.com/office/drawing/2014/main" id="{52EB6558-5E49-42B8-44F7-CED47084F202}"/>
                </a:ext>
              </a:extLst>
            </p:cNvPr>
            <p:cNvSpPr/>
            <p:nvPr/>
          </p:nvSpPr>
          <p:spPr>
            <a:xfrm>
              <a:off x="8700996"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4</a:t>
              </a:r>
            </a:p>
          </p:txBody>
        </p:sp>
        <p:sp>
          <p:nvSpPr>
            <p:cNvPr id="12" name="Forma libre: forma 11">
              <a:extLst>
                <a:ext uri="{FF2B5EF4-FFF2-40B4-BE49-F238E27FC236}">
                  <a16:creationId xmlns:a16="http://schemas.microsoft.com/office/drawing/2014/main" id="{E56722E2-CBC6-17CA-60EE-957456C76B3A}"/>
                </a:ext>
              </a:extLst>
            </p:cNvPr>
            <p:cNvSpPr/>
            <p:nvPr/>
          </p:nvSpPr>
          <p:spPr>
            <a:xfrm>
              <a:off x="9731179" y="3820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3</a:t>
              </a:r>
            </a:p>
          </p:txBody>
        </p:sp>
        <p:sp>
          <p:nvSpPr>
            <p:cNvPr id="13" name="object 9">
              <a:extLst>
                <a:ext uri="{FF2B5EF4-FFF2-40B4-BE49-F238E27FC236}">
                  <a16:creationId xmlns:a16="http://schemas.microsoft.com/office/drawing/2014/main" id="{71BE3C11-5A96-D333-9A8A-90A3D577196D}"/>
                </a:ext>
              </a:extLst>
            </p:cNvPr>
            <p:cNvSpPr txBox="1"/>
            <p:nvPr/>
          </p:nvSpPr>
          <p:spPr>
            <a:xfrm>
              <a:off x="10042774" y="3851657"/>
              <a:ext cx="805821" cy="428322"/>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Mesa Limpia (escritorio limpio)</a:t>
              </a:r>
            </a:p>
          </p:txBody>
        </p:sp>
        <p:sp>
          <p:nvSpPr>
            <p:cNvPr id="14" name="Forma libre: forma 13">
              <a:extLst>
                <a:ext uri="{FF2B5EF4-FFF2-40B4-BE49-F238E27FC236}">
                  <a16:creationId xmlns:a16="http://schemas.microsoft.com/office/drawing/2014/main" id="{DE513CCD-7121-6B4C-6E5F-283A2716BC3C}"/>
                </a:ext>
              </a:extLst>
            </p:cNvPr>
            <p:cNvSpPr/>
            <p:nvPr/>
          </p:nvSpPr>
          <p:spPr>
            <a:xfrm>
              <a:off x="9365948" y="220418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2</a:t>
              </a:r>
            </a:p>
          </p:txBody>
        </p:sp>
        <p:sp>
          <p:nvSpPr>
            <p:cNvPr id="15" name="Forma libre: forma 14">
              <a:extLst>
                <a:ext uri="{FF2B5EF4-FFF2-40B4-BE49-F238E27FC236}">
                  <a16:creationId xmlns:a16="http://schemas.microsoft.com/office/drawing/2014/main" id="{5A669C0A-8453-25FE-A208-B249493F69B4}"/>
                </a:ext>
              </a:extLst>
            </p:cNvPr>
            <p:cNvSpPr/>
            <p:nvPr/>
          </p:nvSpPr>
          <p:spPr>
            <a:xfrm>
              <a:off x="7829557" y="1471451"/>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rgbClr val="005471"/>
            </a:solidFill>
            <a:ln w="13297" cap="flat">
              <a:noFill/>
              <a:prstDash val="solid"/>
              <a:miter/>
            </a:ln>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700" b="0" i="0" u="none" strike="noStrike" kern="0" cap="none" spc="0" normalizeH="0" baseline="0" noProof="0" dirty="0">
                  <a:ln>
                    <a:noFill/>
                  </a:ln>
                  <a:solidFill>
                    <a:srgbClr val="FFFFFF"/>
                  </a:solidFill>
                  <a:effectLst/>
                  <a:uLnTx/>
                  <a:uFillTx/>
                  <a:latin typeface="Santander Text" panose="020B0504020201020104" pitchFamily="34" charset="0"/>
                </a:rPr>
                <a:t>1</a:t>
              </a:r>
            </a:p>
          </p:txBody>
        </p:sp>
        <p:sp>
          <p:nvSpPr>
            <p:cNvPr id="16" name="object 9">
              <a:extLst>
                <a:ext uri="{FF2B5EF4-FFF2-40B4-BE49-F238E27FC236}">
                  <a16:creationId xmlns:a16="http://schemas.microsoft.com/office/drawing/2014/main" id="{93E0F23D-346D-CE21-700D-4EB8F1A14F8E}"/>
                </a:ext>
              </a:extLst>
            </p:cNvPr>
            <p:cNvSpPr txBox="1"/>
            <p:nvPr/>
          </p:nvSpPr>
          <p:spPr>
            <a:xfrm>
              <a:off x="9686924" y="2067335"/>
              <a:ext cx="805821" cy="289823"/>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da-DK" sz="900" b="0" i="0" u="none" strike="noStrike" kern="0" cap="none" spc="-20" normalizeH="0" baseline="0" noProof="0" dirty="0">
                  <a:ln>
                    <a:noFill/>
                  </a:ln>
                  <a:solidFill>
                    <a:srgbClr val="1A232B"/>
                  </a:solidFill>
                  <a:effectLst/>
                  <a:uLnTx/>
                  <a:uFillTx/>
                  <a:latin typeface="Arial"/>
                  <a:cs typeface="Santander Text Light"/>
                </a:rPr>
                <a:t>Información Promocional</a:t>
              </a:r>
            </a:p>
          </p:txBody>
        </p:sp>
        <p:pic>
          <p:nvPicPr>
            <p:cNvPr id="17" name="Gráfico 16">
              <a:extLst>
                <a:ext uri="{FF2B5EF4-FFF2-40B4-BE49-F238E27FC236}">
                  <a16:creationId xmlns:a16="http://schemas.microsoft.com/office/drawing/2014/main" id="{F666F25D-0F99-49DC-B1E8-72D586172B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2018" y="1852109"/>
              <a:ext cx="345600" cy="345600"/>
            </a:xfrm>
            <a:prstGeom prst="rect">
              <a:avLst/>
            </a:prstGeom>
          </p:spPr>
        </p:pic>
        <p:pic>
          <p:nvPicPr>
            <p:cNvPr id="18" name="Gráfico 17">
              <a:extLst>
                <a:ext uri="{FF2B5EF4-FFF2-40B4-BE49-F238E27FC236}">
                  <a16:creationId xmlns:a16="http://schemas.microsoft.com/office/drawing/2014/main" id="{FF7F9537-CA16-6D58-209F-E8F3A6E0C2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5505" y="2366916"/>
              <a:ext cx="345600" cy="345600"/>
            </a:xfrm>
            <a:prstGeom prst="rect">
              <a:avLst/>
            </a:prstGeom>
          </p:spPr>
        </p:pic>
        <p:pic>
          <p:nvPicPr>
            <p:cNvPr id="19" name="Gráfico 18">
              <a:extLst>
                <a:ext uri="{FF2B5EF4-FFF2-40B4-BE49-F238E27FC236}">
                  <a16:creationId xmlns:a16="http://schemas.microsoft.com/office/drawing/2014/main" id="{D6614A73-0FF5-47F2-3E3D-DD066C4D8D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29159" y="4508187"/>
              <a:ext cx="345600" cy="345600"/>
            </a:xfrm>
            <a:prstGeom prst="rect">
              <a:avLst/>
            </a:prstGeom>
          </p:spPr>
        </p:pic>
        <p:pic>
          <p:nvPicPr>
            <p:cNvPr id="20" name="Gráfico 19">
              <a:extLst>
                <a:ext uri="{FF2B5EF4-FFF2-40B4-BE49-F238E27FC236}">
                  <a16:creationId xmlns:a16="http://schemas.microsoft.com/office/drawing/2014/main" id="{EEE4269E-6EF8-E8D5-A551-B4DF66B729F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34942" y="3606348"/>
              <a:ext cx="345600" cy="345600"/>
            </a:xfrm>
            <a:prstGeom prst="rect">
              <a:avLst/>
            </a:prstGeom>
          </p:spPr>
        </p:pic>
        <p:pic>
          <p:nvPicPr>
            <p:cNvPr id="21" name="Gráfico 20">
              <a:extLst>
                <a:ext uri="{FF2B5EF4-FFF2-40B4-BE49-F238E27FC236}">
                  <a16:creationId xmlns:a16="http://schemas.microsoft.com/office/drawing/2014/main" id="{09F26F51-87B5-A591-551A-5B29F6FA5F5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72535" y="3590206"/>
              <a:ext cx="345600" cy="345600"/>
            </a:xfrm>
            <a:prstGeom prst="rect">
              <a:avLst/>
            </a:prstGeom>
          </p:spPr>
        </p:pic>
        <p:pic>
          <p:nvPicPr>
            <p:cNvPr id="22" name="Gráfico 21">
              <a:extLst>
                <a:ext uri="{FF2B5EF4-FFF2-40B4-BE49-F238E27FC236}">
                  <a16:creationId xmlns:a16="http://schemas.microsoft.com/office/drawing/2014/main" id="{0763A77E-7CCB-C480-9ADA-EED35E7B830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17587" y="4490854"/>
              <a:ext cx="345600" cy="345600"/>
            </a:xfrm>
            <a:prstGeom prst="rect">
              <a:avLst/>
            </a:prstGeom>
          </p:spPr>
        </p:pic>
      </p:grpSp>
      <p:sp>
        <p:nvSpPr>
          <p:cNvPr id="63" name="Rectángulo: esquinas redondeadas 62">
            <a:extLst>
              <a:ext uri="{FF2B5EF4-FFF2-40B4-BE49-F238E27FC236}">
                <a16:creationId xmlns:a16="http://schemas.microsoft.com/office/drawing/2014/main" id="{FACFB7FE-B532-9069-9812-BC8CFBA5F1B8}"/>
              </a:ext>
            </a:extLst>
          </p:cNvPr>
          <p:cNvSpPr/>
          <p:nvPr/>
        </p:nvSpPr>
        <p:spPr>
          <a:xfrm>
            <a:off x="390152" y="4079809"/>
            <a:ext cx="5147569" cy="1754063"/>
          </a:xfrm>
          <a:prstGeom prst="roundRect">
            <a:avLst/>
          </a:prstGeom>
          <a:solidFill>
            <a:srgbClr val="EC0000">
              <a:lumMod val="20000"/>
              <a:lumOff val="80000"/>
              <a:alpha val="23000"/>
            </a:srgbClr>
          </a:solidFill>
          <a:ln w="12700" cap="flat" cmpd="sng" algn="ctr">
            <a:noFill/>
            <a:prstDash val="solid"/>
            <a:miter lim="800000"/>
          </a:ln>
          <a:effectLst/>
        </p:spPr>
        <p:txBody>
          <a:bodyPr rtlCol="0" anchor="ctr"/>
          <a:lstStyle/>
          <a:p>
            <a:pPr marL="0" marR="0" lvl="0" indent="0" defTabSz="914400" eaLnBrk="1" fontAlgn="auto" latinLnBrk="0" hangingPunct="1">
              <a:lnSpc>
                <a:spcPts val="12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El objetivo de este curso es ampliar sus conocimientos sobre seguridad de la información y la importancia que ésta tiene para SAM, y en general para diferentes instituciones y organizaciones.</a:t>
            </a:r>
          </a:p>
          <a:p>
            <a:pPr marL="0" marR="0" lvl="0" indent="0" defTabSz="914400" eaLnBrk="1" fontAlgn="auto" latinLnBrk="0" hangingPunct="1">
              <a:lnSpc>
                <a:spcPts val="1200"/>
              </a:lnSpc>
              <a:spcBef>
                <a:spcPts val="0"/>
              </a:spcBef>
              <a:spcAft>
                <a:spcPts val="0"/>
              </a:spcAft>
              <a:buClrTx/>
              <a:buSzTx/>
              <a:buFontTx/>
              <a:buNone/>
              <a:tabLst/>
              <a:defRPr/>
            </a:pPr>
            <a:endParaRPr kumimoji="0" lang="es-MX"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0" marR="0" lvl="0" indent="0" defTabSz="914400" eaLnBrk="1" fontAlgn="auto" latinLnBrk="0" hangingPunct="1">
              <a:lnSpc>
                <a:spcPts val="12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También ha visto  ejemplos que ilustran las implicaciones de no acatar las políticas y prácticas de la seguridad de la información en una empresa en general, en nuestro caso para SAM.</a:t>
            </a:r>
          </a:p>
          <a:p>
            <a:pPr marL="0" marR="0" lvl="0" indent="0" defTabSz="914400" eaLnBrk="1" fontAlgn="auto" latinLnBrk="0" hangingPunct="1">
              <a:lnSpc>
                <a:spcPts val="1200"/>
              </a:lnSpc>
              <a:spcBef>
                <a:spcPts val="0"/>
              </a:spcBef>
              <a:spcAft>
                <a:spcPts val="0"/>
              </a:spcAft>
              <a:buClrTx/>
              <a:buSzTx/>
              <a:buFontTx/>
              <a:buNone/>
              <a:tabLst/>
              <a:defRPr/>
            </a:pPr>
            <a:endParaRPr kumimoji="0" lang="es-ES"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a:p>
            <a:pPr marL="0" marR="0" lvl="0" indent="0" defTabSz="914400" eaLnBrk="1" fontAlgn="auto" latinLnBrk="0" hangingPunct="1">
              <a:lnSpc>
                <a:spcPts val="1200"/>
              </a:lnSpc>
              <a:spcBef>
                <a:spcPts val="0"/>
              </a:spcBef>
              <a:spcAft>
                <a:spcPts val="0"/>
              </a:spcAft>
              <a:buClrTx/>
              <a:buSzTx/>
              <a:buFontTx/>
              <a:buNone/>
              <a:tabLst/>
              <a:defRPr/>
            </a:pPr>
            <a:r>
              <a:rPr kumimoji="0" lang="es-MX"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rPr>
              <a:t>Es importante que empieces a utilizar desde ahora mismo los conocimientos adquiridos para hacer de SAM una empresa cada vez más segura.</a:t>
            </a:r>
            <a:endParaRPr kumimoji="0" lang="es-ES" sz="1400" b="0" i="0" u="none" strike="noStrike" kern="0" cap="none" spc="0" normalizeH="0" baseline="0" noProof="0" dirty="0">
              <a:ln>
                <a:noFill/>
              </a:ln>
              <a:solidFill>
                <a:srgbClr val="AEAEAE">
                  <a:lumMod val="50000"/>
                </a:srgbClr>
              </a:solidFill>
              <a:effectLst/>
              <a:uLnTx/>
              <a:uFillTx/>
              <a:latin typeface="Santander Text Light" panose="020B03040202010201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8264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78273-4487-A0E9-5391-678C6815D11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59D398C-37A4-0500-C944-86DEC14D26A0}"/>
              </a:ext>
            </a:extLst>
          </p:cNvPr>
          <p:cNvPicPr>
            <a:picLocks noChangeAspect="1"/>
          </p:cNvPicPr>
          <p:nvPr/>
        </p:nvPicPr>
        <p:blipFill>
          <a:blip r:embed="rId2"/>
          <a:stretch>
            <a:fillRect/>
          </a:stretch>
        </p:blipFill>
        <p:spPr>
          <a:xfrm>
            <a:off x="184585" y="132828"/>
            <a:ext cx="3125543" cy="579852"/>
          </a:xfrm>
          <a:prstGeom prst="rect">
            <a:avLst/>
          </a:prstGeom>
        </p:spPr>
      </p:pic>
      <p:cxnSp>
        <p:nvCxnSpPr>
          <p:cNvPr id="5" name="Conector recto 4">
            <a:extLst>
              <a:ext uri="{FF2B5EF4-FFF2-40B4-BE49-F238E27FC236}">
                <a16:creationId xmlns:a16="http://schemas.microsoft.com/office/drawing/2014/main" id="{973CADDD-4DDD-7786-09D4-BDA61C7993DD}"/>
              </a:ext>
            </a:extLst>
          </p:cNvPr>
          <p:cNvCxnSpPr/>
          <p:nvPr/>
        </p:nvCxnSpPr>
        <p:spPr>
          <a:xfrm>
            <a:off x="155448" y="832104"/>
            <a:ext cx="11667744" cy="0"/>
          </a:xfrm>
          <a:prstGeom prst="line">
            <a:avLst/>
          </a:prstGeom>
          <a:ln/>
        </p:spPr>
        <p:style>
          <a:lnRef idx="1">
            <a:schemeClr val="dk1"/>
          </a:lnRef>
          <a:fillRef idx="0">
            <a:schemeClr val="dk1"/>
          </a:fillRef>
          <a:effectRef idx="0">
            <a:schemeClr val="dk1"/>
          </a:effectRef>
          <a:fontRef idx="minor">
            <a:schemeClr val="tx1"/>
          </a:fontRef>
        </p:style>
      </p:cxnSp>
      <p:sp>
        <p:nvSpPr>
          <p:cNvPr id="2" name="Título 1">
            <a:extLst>
              <a:ext uri="{FF2B5EF4-FFF2-40B4-BE49-F238E27FC236}">
                <a16:creationId xmlns:a16="http://schemas.microsoft.com/office/drawing/2014/main" id="{7157254C-8C91-C511-0BA9-05A6F447C21D}"/>
              </a:ext>
            </a:extLst>
          </p:cNvPr>
          <p:cNvSpPr txBox="1">
            <a:spLocks/>
          </p:cNvSpPr>
          <p:nvPr/>
        </p:nvSpPr>
        <p:spPr>
          <a:xfrm>
            <a:off x="439259" y="939173"/>
            <a:ext cx="11309829" cy="511802"/>
          </a:xfrm>
          <a:prstGeom prst="rect">
            <a:avLst/>
          </a:prstGeom>
        </p:spPr>
        <p:txBody>
          <a:bodyPr lIns="0" tIns="0" rIns="0" bIns="0" anchor="t" anchorCtr="0">
            <a:no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pPr marL="0" marR="0" lvl="0" indent="0" algn="l" defTabSz="742950" rtl="0" eaLnBrk="1" fontAlgn="auto" latinLnBrk="0" hangingPunct="1">
              <a:lnSpc>
                <a:spcPct val="90000"/>
              </a:lnSpc>
              <a:spcBef>
                <a:spcPct val="0"/>
              </a:spcBef>
              <a:spcAft>
                <a:spcPts val="0"/>
              </a:spcAft>
              <a:buClrTx/>
              <a:buSzTx/>
              <a:buFontTx/>
              <a:buNone/>
              <a:tabLst/>
              <a:defRPr/>
            </a:pPr>
            <a:r>
              <a:rPr kumimoji="0" lang="es-ES" sz="2600" b="0" i="0" u="none" strike="noStrike" kern="1200" cap="none" spc="0" normalizeH="0" baseline="0" noProof="0">
                <a:ln>
                  <a:noFill/>
                </a:ln>
                <a:solidFill>
                  <a:srgbClr val="005471"/>
                </a:solidFill>
                <a:effectLst/>
                <a:uLnTx/>
                <a:uFillTx/>
                <a:latin typeface="Santander Headline Light" panose="020B0304020201010104" pitchFamily="34" charset="0"/>
                <a:ea typeface="+mj-ea"/>
              </a:rPr>
              <a:t>Situaciones de riesgo de la información</a:t>
            </a:r>
            <a:endParaRPr kumimoji="0" lang="es-ES" sz="2600" b="0" i="0" u="none" strike="noStrike" kern="1200" cap="none" spc="0" normalizeH="0" baseline="0" noProof="0" dirty="0">
              <a:ln>
                <a:noFill/>
              </a:ln>
              <a:solidFill>
                <a:srgbClr val="005471"/>
              </a:solidFill>
              <a:effectLst/>
              <a:uLnTx/>
              <a:uFillTx/>
              <a:latin typeface="Santander Headline Light" panose="020B0304020201010104" pitchFamily="34" charset="0"/>
              <a:ea typeface="+mj-ea"/>
            </a:endParaRPr>
          </a:p>
        </p:txBody>
      </p:sp>
      <p:sp>
        <p:nvSpPr>
          <p:cNvPr id="4" name="Marcador de texto 4">
            <a:extLst>
              <a:ext uri="{FF2B5EF4-FFF2-40B4-BE49-F238E27FC236}">
                <a16:creationId xmlns:a16="http://schemas.microsoft.com/office/drawing/2014/main" id="{A893DDAF-A969-C5CB-877B-68353DD53244}"/>
              </a:ext>
            </a:extLst>
          </p:cNvPr>
          <p:cNvSpPr txBox="1">
            <a:spLocks/>
          </p:cNvSpPr>
          <p:nvPr/>
        </p:nvSpPr>
        <p:spPr>
          <a:xfrm>
            <a:off x="417893" y="1450975"/>
            <a:ext cx="4474147" cy="2611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kumimoji="0" lang="es-MX"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rPr>
              <a:t>Escritorio limpio</a:t>
            </a:r>
            <a:endParaRPr kumimoji="0" lang="es-ES" sz="1600" b="0" i="0" u="none" strike="noStrike" kern="1200" cap="none" spc="0" normalizeH="0" baseline="0" noProof="0" dirty="0">
              <a:ln>
                <a:noFill/>
              </a:ln>
              <a:solidFill>
                <a:srgbClr val="000715"/>
              </a:solidFill>
              <a:effectLst/>
              <a:uLnTx/>
              <a:uFillTx/>
              <a:latin typeface="Santander Headline" panose="020B0504020201020104" pitchFamily="34" charset="0"/>
              <a:ea typeface="+mn-ea"/>
              <a:cs typeface="Arial" panose="020B0604020202020204" pitchFamily="34" charset="0"/>
            </a:endParaRPr>
          </a:p>
        </p:txBody>
      </p:sp>
      <p:sp>
        <p:nvSpPr>
          <p:cNvPr id="6" name="Rectángulo: esquinas redondeadas 5">
            <a:extLst>
              <a:ext uri="{FF2B5EF4-FFF2-40B4-BE49-F238E27FC236}">
                <a16:creationId xmlns:a16="http://schemas.microsoft.com/office/drawing/2014/main" id="{7702EC8B-B6C3-5CB5-117F-7F1CD42E29E7}"/>
              </a:ext>
            </a:extLst>
          </p:cNvPr>
          <p:cNvSpPr/>
          <p:nvPr/>
        </p:nvSpPr>
        <p:spPr>
          <a:xfrm>
            <a:off x="439260" y="1298313"/>
            <a:ext cx="11309828" cy="2236157"/>
          </a:xfrm>
          <a:prstGeom prst="round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AEAEAE">
                    <a:lumMod val="50000"/>
                  </a:srgbClr>
                </a:solidFill>
                <a:effectLst/>
                <a:uLnTx/>
                <a:uFillTx/>
                <a:latin typeface="Santander Text" panose="020B0504020201020104" pitchFamily="34" charset="0"/>
                <a:ea typeface="Calibri" panose="020F0502020204030204" pitchFamily="34" charset="0"/>
                <a:cs typeface="Times New Roman" panose="02020603050405020304" pitchFamily="18" charset="0"/>
              </a:rPr>
              <a:t>La costumbre de mantener la mesa de trabajo limpia, con la información en papel guardada y la sesión de trabajo de la computadora protegida, evita la ocurrencia de incidentes que ponen en peligro la seguridad de la información que se maneja en la organización. </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AEAEAE">
                    <a:lumMod val="50000"/>
                  </a:srgbClr>
                </a:solidFill>
                <a:effectLst/>
                <a:uLnTx/>
                <a:uFillTx/>
                <a:latin typeface="Santander Text" panose="020B0504020201020104" pitchFamily="34" charset="0"/>
                <a:ea typeface="Calibri" panose="020F0502020204030204" pitchFamily="34" charset="0"/>
                <a:cs typeface="Times New Roman" panose="02020603050405020304" pitchFamily="18" charset="0"/>
              </a:rPr>
              <a:t>Es importante mantener la mesa de trabajo limpia, especialmente al final del día o cuando se va a ausentar durante periodos prolongados (visitas a clientes, descansos).</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AEAEAE">
                    <a:lumMod val="50000"/>
                  </a:srgbClr>
                </a:solidFill>
                <a:effectLst/>
                <a:uLnTx/>
                <a:uFillTx/>
                <a:latin typeface="Santander Text" panose="020B0504020201020104" pitchFamily="34" charset="0"/>
                <a:ea typeface="Calibri" panose="020F0502020204030204" pitchFamily="34" charset="0"/>
                <a:cs typeface="Times New Roman" panose="02020603050405020304" pitchFamily="18" charset="0"/>
              </a:rPr>
              <a:t>También debe bloquear su sesión de trabajo de la computadora, introduciendo la contraseña del salvapantallas. Si la ausencia es prolongada, cierra la sesión.</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AEAEAE">
                    <a:lumMod val="50000"/>
                  </a:srgbClr>
                </a:solidFill>
                <a:effectLst/>
                <a:uLnTx/>
                <a:uFillTx/>
                <a:latin typeface="Santander Text" panose="020B0504020201020104" pitchFamily="34" charset="0"/>
                <a:ea typeface="Calibri" panose="020F0502020204030204" pitchFamily="34" charset="0"/>
                <a:cs typeface="Times New Roman" panose="02020603050405020304" pitchFamily="18" charset="0"/>
              </a:rPr>
              <a:t>Es importante mantener la mesa de trabajo limpia, especialmente al final del día o cuando se va a ausentar durante periodos prolongados (visitas a clientes, descansos).</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AEAEAE">
                    <a:lumMod val="50000"/>
                  </a:srgbClr>
                </a:solidFill>
                <a:effectLst/>
                <a:uLnTx/>
                <a:uFillTx/>
                <a:latin typeface="Santander Text" panose="020B0504020201020104" pitchFamily="34" charset="0"/>
                <a:ea typeface="Calibri" panose="020F0502020204030204" pitchFamily="34" charset="0"/>
                <a:cs typeface="Times New Roman" panose="02020603050405020304" pitchFamily="18" charset="0"/>
              </a:rPr>
              <a:t>También debe bloquear su sesión de trabajo de la computadora, introduciendo la contraseña del salvapantallas. Si la ausencia es prolongada, cierra la sesión.</a:t>
            </a:r>
          </a:p>
        </p:txBody>
      </p:sp>
      <p:sp>
        <p:nvSpPr>
          <p:cNvPr id="7" name="Rectángulo: esquinas redondeadas 6">
            <a:extLst>
              <a:ext uri="{FF2B5EF4-FFF2-40B4-BE49-F238E27FC236}">
                <a16:creationId xmlns:a16="http://schemas.microsoft.com/office/drawing/2014/main" id="{8A09EC64-69E6-AE20-BFFC-8D51A4ACDFED}"/>
              </a:ext>
            </a:extLst>
          </p:cNvPr>
          <p:cNvSpPr/>
          <p:nvPr/>
        </p:nvSpPr>
        <p:spPr>
          <a:xfrm>
            <a:off x="439259" y="3381808"/>
            <a:ext cx="7897894" cy="2025217"/>
          </a:xfrm>
          <a:prstGeom prst="roundRect">
            <a:avLst/>
          </a:prstGeom>
          <a:solidFill>
            <a:srgbClr val="FFFFFF"/>
          </a:solidFill>
          <a:ln w="12700" cap="flat" cmpd="sng" algn="ctr">
            <a:solidFill>
              <a:srgbClr val="D0B04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RECOMENDACIONES – ESCRITORIO LIMPIO</a:t>
            </a:r>
          </a:p>
          <a:p>
            <a:pPr marL="0" marR="0" lvl="0" indent="0" defTabSz="914400" eaLnBrk="1" fontAlgn="auto" latinLnBrk="0" hangingPunct="1">
              <a:lnSpc>
                <a:spcPct val="100000"/>
              </a:lnSpc>
              <a:spcBef>
                <a:spcPts val="0"/>
              </a:spcBef>
              <a:spcAft>
                <a:spcPts val="0"/>
              </a:spcAft>
              <a:buClrTx/>
              <a:buSzTx/>
              <a:buFontTx/>
              <a:buNone/>
              <a:tabLst/>
              <a:defRPr/>
            </a:pPr>
            <a:endPar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endParaRP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•Utilice cajones y armarios con llave para guardar objetos de valor e información confidencial.</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•Guarde las llaves en un lugar seguro.</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•Debe bloquear la sesión de trabajo durante las pausas que haga durante la jornada laboral.</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•Debe cerrar la sesión durante ausencias prolongadas y al final de su jornada de trabajo.</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0"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•Debe destruir la información confidencial impresa antes de depositarla en los contenedores de papel.</a:t>
            </a:r>
          </a:p>
          <a:p>
            <a:pPr marL="0" marR="0" lvl="0" indent="0" defTabSz="914400" eaLnBrk="1" fontAlgn="auto" latinLnBrk="0" hangingPunct="1">
              <a:lnSpc>
                <a:spcPct val="100000"/>
              </a:lnSpc>
              <a:spcBef>
                <a:spcPts val="0"/>
              </a:spcBef>
              <a:spcAft>
                <a:spcPts val="600"/>
              </a:spcAft>
              <a:buClrTx/>
              <a:buSzTx/>
              <a:buFontTx/>
              <a:buNone/>
              <a:tabLst/>
              <a:defRPr/>
            </a:pPr>
            <a:r>
              <a:rPr kumimoji="0" lang="es-MX" sz="1200" b="1" i="0" u="none" strike="noStrike" kern="0" cap="none" spc="0" normalizeH="0" baseline="0" noProof="0" dirty="0">
                <a:ln>
                  <a:noFill/>
                </a:ln>
                <a:solidFill>
                  <a:srgbClr val="000715"/>
                </a:solidFill>
                <a:effectLst/>
                <a:uLnTx/>
                <a:uFillTx/>
                <a:latin typeface="Santander Text" panose="020B0504020201020104" pitchFamily="34" charset="0"/>
                <a:ea typeface="+mn-ea"/>
                <a:cs typeface="+mn-cs"/>
              </a:rPr>
              <a:t>-</a:t>
            </a:r>
            <a:r>
              <a:rPr kumimoji="0" lang="es-MX" sz="1200" b="1" i="0" u="none" strike="noStrike" kern="0" cap="none" spc="0" normalizeH="0" baseline="0" noProof="0" dirty="0">
                <a:ln>
                  <a:noFill/>
                </a:ln>
                <a:solidFill>
                  <a:srgbClr val="EC0000"/>
                </a:solidFill>
                <a:effectLst/>
                <a:uLnTx/>
                <a:uFillTx/>
                <a:latin typeface="Santander Text" panose="020B0504020201020104" pitchFamily="34" charset="0"/>
                <a:ea typeface="+mn-ea"/>
                <a:cs typeface="+mn-cs"/>
              </a:rPr>
              <a:t>Toma tus alimentos en el comedor de SAM.</a:t>
            </a:r>
          </a:p>
        </p:txBody>
      </p:sp>
      <p:sp>
        <p:nvSpPr>
          <p:cNvPr id="8" name="Globo: flecha hacia arriba 7">
            <a:extLst>
              <a:ext uri="{FF2B5EF4-FFF2-40B4-BE49-F238E27FC236}">
                <a16:creationId xmlns:a16="http://schemas.microsoft.com/office/drawing/2014/main" id="{C8874DD2-00F1-D7E9-9F58-1815016DC373}"/>
              </a:ext>
            </a:extLst>
          </p:cNvPr>
          <p:cNvSpPr/>
          <p:nvPr/>
        </p:nvSpPr>
        <p:spPr>
          <a:xfrm>
            <a:off x="9098280" y="3978777"/>
            <a:ext cx="1892808" cy="1809375"/>
          </a:xfrm>
          <a:prstGeom prst="upArrowCallout">
            <a:avLst/>
          </a:prstGeom>
          <a:solidFill>
            <a:srgbClr val="005471"/>
          </a:solidFill>
          <a:ln w="12700" cap="flat" cmpd="sng" algn="ctr">
            <a:solidFill>
              <a:srgbClr val="005471">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000" b="0" i="0" u="none" strike="noStrike" kern="0" cap="none" spc="0" normalizeH="0" baseline="0" noProof="0" dirty="0">
                <a:ln>
                  <a:noFill/>
                </a:ln>
                <a:solidFill>
                  <a:srgbClr val="FFFFFF"/>
                </a:solidFill>
                <a:effectLst/>
                <a:uLnTx/>
                <a:uFillTx/>
                <a:latin typeface="Arial"/>
                <a:ea typeface="+mn-ea"/>
                <a:cs typeface="+mn-cs"/>
              </a:rPr>
              <a:t>Estas sencillas medidas evitan que una persona mal intencionada pueda acceder a su equipo de cómputo o a información importante, preservando su confidencialidad eficazmente.</a:t>
            </a:r>
          </a:p>
        </p:txBody>
      </p:sp>
      <p:sp>
        <p:nvSpPr>
          <p:cNvPr id="9" name="Rectángulo 8">
            <a:extLst>
              <a:ext uri="{FF2B5EF4-FFF2-40B4-BE49-F238E27FC236}">
                <a16:creationId xmlns:a16="http://schemas.microsoft.com/office/drawing/2014/main" id="{40F3EFFA-6442-00E5-72CB-14B3B5B31B6C}"/>
              </a:ext>
            </a:extLst>
          </p:cNvPr>
          <p:cNvSpPr/>
          <p:nvPr/>
        </p:nvSpPr>
        <p:spPr>
          <a:xfrm>
            <a:off x="557784" y="5660136"/>
            <a:ext cx="8046720" cy="722376"/>
          </a:xfrm>
          <a:prstGeom prst="rect">
            <a:avLst/>
          </a:prstGeom>
          <a:gradFill rotWithShape="1">
            <a:gsLst>
              <a:gs pos="0">
                <a:srgbClr val="EC0000">
                  <a:lumMod val="110000"/>
                  <a:satMod val="105000"/>
                  <a:tint val="67000"/>
                </a:srgbClr>
              </a:gs>
              <a:gs pos="50000">
                <a:srgbClr val="EC0000">
                  <a:lumMod val="105000"/>
                  <a:satMod val="103000"/>
                  <a:tint val="73000"/>
                </a:srgbClr>
              </a:gs>
              <a:gs pos="100000">
                <a:srgbClr val="EC0000">
                  <a:lumMod val="105000"/>
                  <a:satMod val="109000"/>
                  <a:tint val="81000"/>
                </a:srgbClr>
              </a:gs>
            </a:gsLst>
            <a:lin ang="5400000" scaled="0"/>
          </a:gradFill>
          <a:ln w="6350" cap="flat" cmpd="sng" algn="ctr">
            <a:solidFill>
              <a:srgbClr val="EC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600" b="0" i="0" u="none" strike="noStrike" kern="0" cap="none" spc="0" normalizeH="0" baseline="0" noProof="0" dirty="0">
                <a:ln>
                  <a:noFill/>
                </a:ln>
                <a:solidFill>
                  <a:srgbClr val="000715"/>
                </a:solidFill>
                <a:effectLst/>
                <a:uLnTx/>
                <a:uFillTx/>
                <a:latin typeface="Arial"/>
                <a:ea typeface="+mn-ea"/>
                <a:cs typeface="+mn-cs"/>
              </a:rPr>
              <a:t>SAM realiza fumigaciones </a:t>
            </a:r>
            <a:r>
              <a:rPr kumimoji="0" lang="es-MX" sz="1600" b="0" i="0" u="none" strike="noStrike" kern="0" cap="none" spc="0" normalizeH="0" baseline="0" noProof="0" dirty="0" err="1">
                <a:ln>
                  <a:noFill/>
                </a:ln>
                <a:solidFill>
                  <a:srgbClr val="000715"/>
                </a:solidFill>
                <a:effectLst/>
                <a:uLnTx/>
                <a:uFillTx/>
                <a:latin typeface="Arial"/>
                <a:ea typeface="+mn-ea"/>
                <a:cs typeface="+mn-cs"/>
              </a:rPr>
              <a:t>contínuas</a:t>
            </a:r>
            <a:r>
              <a:rPr kumimoji="0" lang="es-MX" sz="1600" b="0" i="0" u="none" strike="noStrike" kern="0" cap="none" spc="0" normalizeH="0" baseline="0" noProof="0" dirty="0">
                <a:ln>
                  <a:noFill/>
                </a:ln>
                <a:solidFill>
                  <a:srgbClr val="000715"/>
                </a:solidFill>
                <a:effectLst/>
                <a:uLnTx/>
                <a:uFillTx/>
                <a:latin typeface="Arial"/>
                <a:ea typeface="+mn-ea"/>
                <a:cs typeface="+mn-cs"/>
              </a:rPr>
              <a:t> para mantener limpios y sin plagas nuestro espacio de trabajo, por lo que existen zonas especiales para poder tomar nuestros alimentos. Por favor evita al máximo comer en tu lugar.</a:t>
            </a:r>
          </a:p>
        </p:txBody>
      </p:sp>
    </p:spTree>
    <p:extLst>
      <p:ext uri="{BB962C8B-B14F-4D97-AF65-F5344CB8AC3E}">
        <p14:creationId xmlns:p14="http://schemas.microsoft.com/office/powerpoint/2010/main" val="3822385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870E-727B-5F70-A307-3AAE47CE35B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48D0109-E34A-F8A2-8ECF-20953031A6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4" name="think-cell data - do not delete" hidden="1">
                        <a:extLst>
                          <a:ext uri="{FF2B5EF4-FFF2-40B4-BE49-F238E27FC236}">
                            <a16:creationId xmlns:a16="http://schemas.microsoft.com/office/drawing/2014/main" id="{B48D0109-E34A-F8A2-8ECF-20953031A6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object 3">
            <a:extLst>
              <a:ext uri="{FF2B5EF4-FFF2-40B4-BE49-F238E27FC236}">
                <a16:creationId xmlns:a16="http://schemas.microsoft.com/office/drawing/2014/main" id="{02E8101D-2C87-9940-B83A-F697F153888B}"/>
              </a:ext>
            </a:extLst>
          </p:cNvPr>
          <p:cNvSpPr txBox="1">
            <a:spLocks/>
          </p:cNvSpPr>
          <p:nvPr/>
        </p:nvSpPr>
        <p:spPr>
          <a:xfrm>
            <a:off x="442913" y="2256403"/>
            <a:ext cx="6797218" cy="1630511"/>
          </a:xfrm>
          <a:prstGeom prst="rect">
            <a:avLst/>
          </a:prstGeom>
        </p:spPr>
        <p:txBody>
          <a:bodyPr vert="horz" wrap="square" lIns="0" tIns="168275" rIns="0" bIns="0" rtlCol="0" anchor="t">
            <a:sp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5080" indent="0">
              <a:lnSpc>
                <a:spcPct val="80000"/>
              </a:lnSpc>
              <a:spcBef>
                <a:spcPts val="1325"/>
              </a:spcBef>
              <a:buNone/>
            </a:pPr>
            <a:r>
              <a:rPr lang="en-US" sz="6000" dirty="0">
                <a:solidFill>
                  <a:schemeClr val="bg1"/>
                </a:solidFill>
                <a:latin typeface="Santander Headline"/>
                <a:cs typeface="+mn-lt"/>
              </a:rPr>
              <a:t>Gracias</a:t>
            </a:r>
            <a:endParaRPr lang="en-US" sz="6000" dirty="0">
              <a:solidFill>
                <a:schemeClr val="bg1"/>
              </a:solidFill>
            </a:endParaRPr>
          </a:p>
          <a:p>
            <a:pPr marL="0" marR="5080" indent="0">
              <a:lnSpc>
                <a:spcPct val="80000"/>
              </a:lnSpc>
              <a:spcBef>
                <a:spcPts val="1325"/>
              </a:spcBef>
              <a:buNone/>
            </a:pPr>
            <a:r>
              <a:rPr lang="en-US" sz="4400" dirty="0">
                <a:solidFill>
                  <a:schemeClr val="bg1"/>
                </a:solidFill>
                <a:latin typeface="Santander Headline"/>
                <a:cs typeface="Santander Headline Light"/>
              </a:rPr>
              <a:t>SAM</a:t>
            </a:r>
            <a:endParaRPr lang="en-US" sz="6000" dirty="0">
              <a:solidFill>
                <a:schemeClr val="bg1"/>
              </a:solidFill>
              <a:latin typeface="Santander Headline"/>
              <a:cs typeface="Santander Headline Light"/>
            </a:endParaRPr>
          </a:p>
        </p:txBody>
      </p:sp>
      <p:cxnSp>
        <p:nvCxnSpPr>
          <p:cNvPr id="3" name="Conector recto 2">
            <a:extLst>
              <a:ext uri="{FF2B5EF4-FFF2-40B4-BE49-F238E27FC236}">
                <a16:creationId xmlns:a16="http://schemas.microsoft.com/office/drawing/2014/main" id="{8BB1980B-5866-5985-3E7A-4AE3CABF1DE0}"/>
              </a:ext>
            </a:extLst>
          </p:cNvPr>
          <p:cNvCxnSpPr>
            <a:cxnSpLocks/>
          </p:cNvCxnSpPr>
          <p:nvPr/>
        </p:nvCxnSpPr>
        <p:spPr>
          <a:xfrm>
            <a:off x="423123" y="3182591"/>
            <a:ext cx="60860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3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4526CD282F02A44869A9D2B36E84B2A" ma:contentTypeVersion="5" ma:contentTypeDescription="Crear nuevo documento." ma:contentTypeScope="" ma:versionID="4f65e74797fd73c9dfcce1cb58a6d8fc">
  <xsd:schema xmlns:xsd="http://www.w3.org/2001/XMLSchema" xmlns:xs="http://www.w3.org/2001/XMLSchema" xmlns:p="http://schemas.microsoft.com/office/2006/metadata/properties" xmlns:ns2="6a3a5e9b-ee09-41e2-808a-978ed94a5e6b" targetNamespace="http://schemas.microsoft.com/office/2006/metadata/properties" ma:root="true" ma:fieldsID="d92b696e926173bb3ecfe7820df93b29" ns2:_="">
    <xsd:import namespace="6a3a5e9b-ee09-41e2-808a-978ed94a5e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3a5e9b-ee09-41e2-808a-978ed94a5e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5F26B1-8118-4E85-AB1F-ECCDEE4AD066}"/>
</file>

<file path=customXml/itemProps2.xml><?xml version="1.0" encoding="utf-8"?>
<ds:datastoreItem xmlns:ds="http://schemas.openxmlformats.org/officeDocument/2006/customXml" ds:itemID="{E7DC2A2B-B1BB-40E5-8451-C3CB421C30E5}"/>
</file>

<file path=customXml/itemProps3.xml><?xml version="1.0" encoding="utf-8"?>
<ds:datastoreItem xmlns:ds="http://schemas.openxmlformats.org/officeDocument/2006/customXml" ds:itemID="{75DB1D74-7BAE-478E-917E-3B63C2106420}"/>
</file>

<file path=docProps/app.xml><?xml version="1.0" encoding="utf-8"?>
<Properties xmlns="http://schemas.openxmlformats.org/officeDocument/2006/extended-properties" xmlns:vt="http://schemas.openxmlformats.org/officeDocument/2006/docPropsVTypes">
  <TotalTime>0</TotalTime>
  <Words>1770</Words>
  <Application>Microsoft Office PowerPoint</Application>
  <PresentationFormat>Panorámica</PresentationFormat>
  <Paragraphs>126</Paragraphs>
  <Slides>10</Slides>
  <Notes>2</Notes>
  <HiddenSlides>0</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1</vt:i4>
      </vt:variant>
      <vt:variant>
        <vt:lpstr>Títulos de diapositiva</vt:lpstr>
      </vt:variant>
      <vt:variant>
        <vt:i4>10</vt:i4>
      </vt:variant>
    </vt:vector>
  </HeadingPairs>
  <TitlesOfParts>
    <vt:vector size="21" baseType="lpstr">
      <vt:lpstr>Santander Headline</vt:lpstr>
      <vt:lpstr>Santander Headline Light</vt:lpstr>
      <vt:lpstr>Aptos</vt:lpstr>
      <vt:lpstr>Aptos Display</vt:lpstr>
      <vt:lpstr>Arial</vt:lpstr>
      <vt:lpstr>Santander Text</vt:lpstr>
      <vt:lpstr>Santander Text Light</vt:lpstr>
      <vt:lpstr>Santander Text SemiBold</vt:lpstr>
      <vt:lpstr>Wingdings</vt:lpstr>
      <vt:lpstr>Tema de Office</vt:lpstr>
      <vt:lpstr>Diapositiva de think-cell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Produban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Tapia Gonzalez Adriana</dc:creator>
  <cp:lastModifiedBy>Tapia Gonzalez Adriana</cp:lastModifiedBy>
  <cp:revision>2</cp:revision>
  <dcterms:created xsi:type="dcterms:W3CDTF">2025-09-06T22:20:40Z</dcterms:created>
  <dcterms:modified xsi:type="dcterms:W3CDTF">2025-10-01T03:09:16Z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etDate">
    <vt:lpwstr>2025-09-07T00:02:26Z</vt:lpwstr>
  </property>
  <property fmtid="{D5CDD505-2E9C-101B-9397-08002B2CF9AE}" pid="4" name="MSIP_Label_0c2abd79-57a9-4473-8700-c843f76a1e37_Method">
    <vt:lpwstr>Privileged</vt:lpwstr>
  </property>
  <property fmtid="{D5CDD505-2E9C-101B-9397-08002B2CF9AE}" pid="5" name="MSIP_Label_0c2abd79-57a9-4473-8700-c843f76a1e37_Name">
    <vt:lpwstr>Internal</vt:lpwstr>
  </property>
  <property fmtid="{D5CDD505-2E9C-101B-9397-08002B2CF9AE}" pid="6" name="MSIP_Label_0c2abd79-57a9-4473-8700-c843f76a1e37_SiteId">
    <vt:lpwstr>35595a02-4d6d-44ac-99e1-f9ab4cd872db</vt:lpwstr>
  </property>
  <property fmtid="{D5CDD505-2E9C-101B-9397-08002B2CF9AE}" pid="7" name="MSIP_Label_0c2abd79-57a9-4473-8700-c843f76a1e37_ActionId">
    <vt:lpwstr>10336e2f-9e27-4f4e-a520-4643bec04e47</vt:lpwstr>
  </property>
  <property fmtid="{D5CDD505-2E9C-101B-9397-08002B2CF9AE}" pid="8" name="MSIP_Label_0c2abd79-57a9-4473-8700-c843f76a1e37_ContentBits">
    <vt:lpwstr>0</vt:lpwstr>
  </property>
  <property fmtid="{D5CDD505-2E9C-101B-9397-08002B2CF9AE}" pid="9" name="MSIP_Label_0c2abd79-57a9-4473-8700-c843f76a1e37_Tag">
    <vt:lpwstr>10, 0, 1, 1</vt:lpwstr>
  </property>
  <property fmtid="{D5CDD505-2E9C-101B-9397-08002B2CF9AE}" pid="10" name="ContentTypeId">
    <vt:lpwstr>0x01010044526CD282F02A44869A9D2B36E84B2A</vt:lpwstr>
  </property>
</Properties>
</file>